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2" r:id="rId6"/>
    <p:sldId id="260" r:id="rId7"/>
    <p:sldId id="263" r:id="rId8"/>
    <p:sldId id="264" r:id="rId9"/>
    <p:sldId id="277" r:id="rId10"/>
    <p:sldId id="266"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dirty="0">
                <a:solidFill>
                  <a:srgbClr val="0D1B3E"/>
                </a:solidFill>
              </a:rPr>
              <a:t>F1 Score by Field</a:t>
            </a:r>
          </a:p>
        </c:rich>
      </c:tx>
      <c:overlay val="0"/>
    </c:title>
    <c:autoTitleDeleted val="0"/>
    <c:plotArea>
      <c:layout/>
      <c:barChart>
        <c:barDir val="bar"/>
        <c:grouping val="clustered"/>
        <c:varyColors val="1"/>
        <c:ser>
          <c:idx val="0"/>
          <c:order val="0"/>
          <c:tx>
            <c:strRef>
              <c:f>Sheet1!$A$1</c:f>
              <c:strCache>
                <c:ptCount val="1"/>
                <c:pt idx="0">
                  <c:v>Federated (FL)</c:v>
                </c:pt>
              </c:strCache>
            </c:strRef>
          </c:tx>
          <c:spPr>
            <a:solidFill>
              <a:srgbClr val="1A4F8A"/>
            </a:solidFill>
            <a:ln>
              <a:noFill/>
            </a:ln>
          </c:spPr>
          <c:invertIfNegative val="1"/>
          <c:dLbls>
            <c:numFmt formatCode="0.000" sourceLinked="0"/>
            <c:spPr>
              <a:noFill/>
              <a:ln>
                <a:noFill/>
              </a:ln>
            </c:spPr>
            <c:txPr>
              <a:bodyPr/>
              <a:lstStyle/>
              <a:p>
                <a:pPr>
                  <a:defRPr lang="en-US" sz="1000">
                    <a:solidFill>
                      <a:srgbClr val="FFFFFF"/>
                    </a:solidFill>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DATE</c:v>
              </c:pt>
              <c:pt idx="1">
                <c:v>INVOICE_NO</c:v>
              </c:pt>
              <c:pt idx="2">
                <c:v>PO_NO</c:v>
              </c:pt>
              <c:pt idx="3">
                <c:v>SUBTOTAL</c:v>
              </c:pt>
              <c:pt idx="4">
                <c:v>TOTAL</c:v>
              </c:pt>
              <c:pt idx="5">
                <c:v>VENDOR</c:v>
              </c:pt>
              <c:pt idx="6">
                <c:v>Micro F1</c:v>
              </c:pt>
            </c:strLit>
          </c:cat>
          <c:val>
            <c:numLit>
              <c:formatCode>General</c:formatCode>
              <c:ptCount val="7"/>
              <c:pt idx="0">
                <c:v>0.80500000000000005</c:v>
              </c:pt>
              <c:pt idx="1">
                <c:v>0.96599999999999997</c:v>
              </c:pt>
              <c:pt idx="2">
                <c:v>0.95099999999999996</c:v>
              </c:pt>
              <c:pt idx="3">
                <c:v>0.92700000000000005</c:v>
              </c:pt>
              <c:pt idx="4">
                <c:v>0.83599999999999997</c:v>
              </c:pt>
              <c:pt idx="5">
                <c:v>0.92100000000000004</c:v>
              </c:pt>
              <c:pt idx="6">
                <c:v>0.879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5FF-4768-8CCB-2A6D372DDD98}"/>
            </c:ext>
          </c:extLst>
        </c:ser>
        <c:ser>
          <c:idx val="1"/>
          <c:order val="1"/>
          <c:tx>
            <c:strRef>
              <c:f>Sheet1!$B$1</c:f>
              <c:strCache>
                <c:ptCount val="1"/>
                <c:pt idx="0">
                  <c:v>Centralized</c:v>
                </c:pt>
              </c:strCache>
            </c:strRef>
          </c:tx>
          <c:spPr>
            <a:solidFill>
              <a:srgbClr val="1A7A4A"/>
            </a:solidFill>
            <a:ln>
              <a:noFill/>
            </a:ln>
          </c:spPr>
          <c:invertIfNegative val="1"/>
          <c:dLbls>
            <c:numFmt formatCode="0.000" sourceLinked="0"/>
            <c:spPr>
              <a:noFill/>
              <a:ln>
                <a:noFill/>
              </a:ln>
            </c:spPr>
            <c:txPr>
              <a:bodyPr/>
              <a:lstStyle/>
              <a:p>
                <a:pPr>
                  <a:defRPr lang="en-US" sz="1000">
                    <a:solidFill>
                      <a:srgbClr val="FFFFFF"/>
                    </a:solidFill>
                    <a:latin typeface="Calibri"/>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DATE</c:v>
              </c:pt>
              <c:pt idx="1">
                <c:v>INVOICE_NO</c:v>
              </c:pt>
              <c:pt idx="2">
                <c:v>PO_NO</c:v>
              </c:pt>
              <c:pt idx="3">
                <c:v>SUBTOTAL</c:v>
              </c:pt>
              <c:pt idx="4">
                <c:v>TOTAL</c:v>
              </c:pt>
              <c:pt idx="5">
                <c:v>VENDOR</c:v>
              </c:pt>
              <c:pt idx="6">
                <c:v>Micro F1</c:v>
              </c:pt>
            </c:strLit>
          </c:cat>
          <c:val>
            <c:numLit>
              <c:formatCode>General</c:formatCode>
              <c:ptCount val="7"/>
              <c:pt idx="0">
                <c:v>0.84899999999999998</c:v>
              </c:pt>
              <c:pt idx="1">
                <c:v>0.999</c:v>
              </c:pt>
              <c:pt idx="2">
                <c:v>1</c:v>
              </c:pt>
              <c:pt idx="3">
                <c:v>0.97</c:v>
              </c:pt>
              <c:pt idx="4">
                <c:v>0.89600000000000002</c:v>
              </c:pt>
              <c:pt idx="5">
                <c:v>0.98599999999999999</c:v>
              </c:pt>
              <c:pt idx="6">
                <c:v>0.92900000000000005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B5FF-4768-8CCB-2A6D372DDD98}"/>
            </c:ext>
          </c:extLst>
        </c:ser>
        <c:dLbls>
          <c:showLegendKey val="0"/>
          <c:showVal val="0"/>
          <c:showCatName val="0"/>
          <c:showSerName val="0"/>
          <c:showPercent val="0"/>
          <c:showBubbleSize val="0"/>
        </c:dLbls>
        <c:gapWidth val="150"/>
        <c:axId val="201"/>
        <c:axId val="202"/>
      </c:barChart>
      <c:catAx>
        <c:axId val="201"/>
        <c:scaling>
          <c:orientation val="minMax"/>
        </c:scaling>
        <c:delete val="0"/>
        <c:axPos val="l"/>
        <c:numFmt formatCode="General" sourceLinked="0"/>
        <c:majorTickMark val="none"/>
        <c:minorTickMark val="none"/>
        <c:tickLblPos val="nextTo"/>
        <c:txPr>
          <a:bodyPr/>
          <a:lstStyle/>
          <a:p>
            <a:pPr>
              <a:defRPr lang="en-US" sz="1000" dirty="0">
                <a:solidFill>
                  <a:srgbClr val="222222"/>
                </a:solidFill>
                <a:latin typeface="Calibri"/>
              </a:defRPr>
            </a:pPr>
            <a:endParaRPr lang="en-US"/>
          </a:p>
        </c:txPr>
        <c:crossAx val="202"/>
        <c:crosses val="autoZero"/>
        <c:auto val="1"/>
        <c:lblAlgn val="ctr"/>
        <c:lblOffset val="100"/>
        <c:noMultiLvlLbl val="1"/>
      </c:catAx>
      <c:valAx>
        <c:axId val="202"/>
        <c:scaling>
          <c:orientation val="minMax"/>
          <c:max val="1"/>
          <c:min val="0.70000000000000007"/>
        </c:scaling>
        <c:delete val="0"/>
        <c:axPos val="b"/>
        <c:numFmt formatCode="0.0" sourceLinked="0"/>
        <c:majorTickMark val="out"/>
        <c:minorTickMark val="none"/>
        <c:tickLblPos val="nextTo"/>
        <c:txPr>
          <a:bodyPr/>
          <a:lstStyle/>
          <a:p>
            <a:pPr>
              <a:defRPr lang="en-US" sz="1000" dirty="0">
                <a:solidFill>
                  <a:srgbClr val="222222"/>
                </a:solidFill>
                <a:latin typeface="Calibri"/>
              </a:defRPr>
            </a:pPr>
            <a:endParaRPr lang="en-US"/>
          </a:p>
        </c:txPr>
        <c:crossAx val="201"/>
        <c:crosses val="autoZero"/>
        <c:crossBetween val="between"/>
      </c:valAx>
    </c:plotArea>
    <c:legend>
      <c:legendPos val="t"/>
      <c:overlay val="0"/>
      <c:txPr>
        <a:bodyPr/>
        <a:lstStyle/>
        <a:p>
          <a:pPr>
            <a:defRPr lang="en-US" sz="1200" b="1">
              <a:solidFill>
                <a:srgbClr val="0D1B3E"/>
              </a:solidFill>
              <a:latin typeface="Calibri"/>
            </a:defRPr>
          </a:pPr>
          <a:endParaRPr lang="en-US"/>
        </a:p>
      </c:txPr>
    </c:legend>
    <c:plotVisOnly val="1"/>
    <c:dispBlanksAs val="zero"/>
    <c:showDLblsOverMax val="1"/>
  </c:chart>
  <c:spPr>
    <a:solidFill>
      <a:srgbClr val="FAFAFA"/>
    </a:solidFill>
    <a:ln w="9525">
      <a:solidFill>
        <a:srgbClr val="DDDDDD"/>
      </a:solid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3708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Our project, AI-Based Cost Management System, addresses a very real pain point in enterprise finance: invoice processing at scale. We built a privacy-first AI system that extracts, validates, and detects anomalies in invoices — trained without ever sharing raw data externally.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Invoice processing sounds mundane, but the business impact of doing it poorly is enormous. Duplicate payments, overbilling, audit risk, and GDPR exposure are all direct consequences of today's broken workflows.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OCR reads characters but has no concept of meaning or position. Cloud AI is better, but introduces privacy and cost problems. Neither delivers a complete solution. That gap is exactly what we set out to fill.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combined four technologies in a way that hasn't been done before for invoice processing. LayoutLMv3 gives us document understanding. Federated Learning gives us privacy. LoRA makes FL computationally feasible. And the fallback chain ensures reliability.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cascade is the key to reliability. We don't bet everything on one model. Tier 1 is our best shot; if it misses fields, Tier 2 compensates; Tier 3 handles clean digital PDFs perfectly; Tier 4 is the universal last resort. Every invoice produces some output.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simple to follow: invoice in, structured data out. Each stage hands off to the next. The FL training loop runs asynchronously in the background, continuously improving extraction as new validated invoices accumulate.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Anomaly detection is a triple-layer defence. Rules catch obvious violations instantly. Isolation Forest catches statistical outliers with no fraud labels. InvoiceAnomalyNet adds federated ML intelligence. Crucially, it also filters bad extractions before they corrupt the FL training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Federated Learning means each organization's invoice data never leaves their premises. Only compressed model updates travel over the network. FedProx regularisation handles the fact that our three clients have different data distributions — non-IID data is the norm in real deployments.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extraction model achieved micro-F1 of 0.929 — strong performance across all entity types. The FL pipeline improved from 0.45 to 0.81 macro-F1 over 15 rounds, with LoRA cutting communication overhead by over a thousand times.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a six-page Streamlit app. From the Upload page, you see extraction results within seconds. The Human Review Queue handles edge cases. The FL Monitor lets admins watch training progress in real time — no need to dig into logs.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journey involved four major pivots. Donut sounded ideal on paper but didn't survive contact with real invoice diversity. Full FL was theoretically correct but computationally brutal. LoRA was the unlock. The fallback cascade was born from honest acceptance that no single model is enough.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production-ready at its core. The next major milestones are tighter privacy guarantees, real-world multi-client deployment, and a streaming pipeline that removes the need for batch uploads. Each of these builds directly on what we've already built.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We built a complete, privacy-preserving invoice intelligence system — end-to-end, from raw document to structured output with anomaly flags. Four-tier fallback, federated learning, LoRA compression, and a full dashboard. Ready for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C4B3"/>
          </a:solidFill>
          <a:ln w="12700">
            <a:solidFill>
              <a:srgbClr val="00C4B3"/>
            </a:solidFill>
            <a:prstDash val="solid"/>
          </a:ln>
        </p:spPr>
        <p:txBody>
          <a:bodyPr/>
          <a:lstStyle/>
          <a:p>
            <a:endParaRPr lang="en-US"/>
          </a:p>
        </p:txBody>
      </p:sp>
      <p:sp>
        <p:nvSpPr>
          <p:cNvPr id="3" name="Shape 1"/>
          <p:cNvSpPr/>
          <p:nvPr/>
        </p:nvSpPr>
        <p:spPr>
          <a:xfrm>
            <a:off x="6858000" y="0"/>
            <a:ext cx="2286000" cy="5143500"/>
          </a:xfrm>
          <a:prstGeom prst="rect">
            <a:avLst/>
          </a:prstGeom>
          <a:solidFill>
            <a:srgbClr val="1A3A7C"/>
          </a:solidFill>
          <a:ln w="12700">
            <a:solidFill>
              <a:srgbClr val="1A3A7C"/>
            </a:solidFill>
            <a:prstDash val="solid"/>
          </a:ln>
        </p:spPr>
        <p:txBody>
          <a:bodyPr/>
          <a:lstStyle/>
          <a:p>
            <a:endParaRPr lang="en-US"/>
          </a:p>
        </p:txBody>
      </p:sp>
      <p:sp>
        <p:nvSpPr>
          <p:cNvPr id="4" name="Shape 2"/>
          <p:cNvSpPr/>
          <p:nvPr/>
        </p:nvSpPr>
        <p:spPr>
          <a:xfrm>
            <a:off x="7680960" y="0"/>
            <a:ext cx="1463040" cy="5143500"/>
          </a:xfrm>
          <a:prstGeom prst="rect">
            <a:avLst/>
          </a:prstGeom>
          <a:solidFill>
            <a:srgbClr val="2E6FD8"/>
          </a:solidFill>
          <a:ln w="12700">
            <a:solidFill>
              <a:srgbClr val="2E6FD8"/>
            </a:solidFill>
            <a:prstDash val="solid"/>
          </a:ln>
        </p:spPr>
        <p:txBody>
          <a:bodyPr/>
          <a:lstStyle/>
          <a:p>
            <a:endParaRPr lang="en-US"/>
          </a:p>
        </p:txBody>
      </p:sp>
      <p:sp>
        <p:nvSpPr>
          <p:cNvPr id="5" name="Text 3"/>
          <p:cNvSpPr/>
          <p:nvPr/>
        </p:nvSpPr>
        <p:spPr>
          <a:xfrm>
            <a:off x="502920" y="822960"/>
            <a:ext cx="6217920" cy="1737360"/>
          </a:xfrm>
          <a:prstGeom prst="rect">
            <a:avLst/>
          </a:prstGeom>
          <a:noFill/>
          <a:ln/>
        </p:spPr>
        <p:txBody>
          <a:bodyPr wrap="square"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AI-Based Cost</a:t>
            </a:r>
            <a:endParaRPr lang="en-US" sz="3600" dirty="0"/>
          </a:p>
          <a:p>
            <a:pPr marL="0" indent="0" algn="l">
              <a:buNone/>
            </a:pPr>
            <a:r>
              <a:rPr lang="en-US" sz="3600" b="1" dirty="0">
                <a:solidFill>
                  <a:srgbClr val="FFFFFF"/>
                </a:solidFill>
                <a:latin typeface="Calibri" pitchFamily="34" charset="0"/>
                <a:ea typeface="Calibri" pitchFamily="34" charset="-122"/>
                <a:cs typeface="Calibri" pitchFamily="34" charset="-120"/>
              </a:rPr>
              <a:t>Management System</a:t>
            </a:r>
            <a:endParaRPr lang="en-US" sz="3600" dirty="0"/>
          </a:p>
        </p:txBody>
      </p:sp>
      <p:sp>
        <p:nvSpPr>
          <p:cNvPr id="6" name="Text 4"/>
          <p:cNvSpPr/>
          <p:nvPr/>
        </p:nvSpPr>
        <p:spPr>
          <a:xfrm>
            <a:off x="502920" y="2606040"/>
            <a:ext cx="6217920" cy="685800"/>
          </a:xfrm>
          <a:prstGeom prst="rect">
            <a:avLst/>
          </a:prstGeom>
          <a:noFill/>
          <a:ln/>
        </p:spPr>
        <p:txBody>
          <a:bodyPr wrap="square" rtlCol="0" anchor="ctr"/>
          <a:lstStyle/>
          <a:p>
            <a:pPr marL="0" indent="0" algn="l">
              <a:buNone/>
            </a:pPr>
            <a:r>
              <a:rPr lang="en-US" sz="1400" dirty="0">
                <a:solidFill>
                  <a:srgbClr val="00C4B3"/>
                </a:solidFill>
                <a:latin typeface="Calibri" pitchFamily="34" charset="0"/>
                <a:ea typeface="Calibri" pitchFamily="34" charset="-122"/>
                <a:cs typeface="Calibri" pitchFamily="34" charset="-120"/>
              </a:rPr>
              <a:t>AI-Powered Invoice Intelligence &amp; Fraud Detection</a:t>
            </a:r>
            <a:endParaRPr lang="en-US" sz="1400" dirty="0"/>
          </a:p>
          <a:p>
            <a:pPr marL="0" indent="0" algn="l">
              <a:buNone/>
            </a:pPr>
            <a:r>
              <a:rPr lang="en-US" sz="1400" dirty="0">
                <a:solidFill>
                  <a:srgbClr val="00C4B3"/>
                </a:solidFill>
                <a:latin typeface="Calibri" pitchFamily="34" charset="0"/>
                <a:ea typeface="Calibri" pitchFamily="34" charset="-122"/>
                <a:cs typeface="Calibri" pitchFamily="34" charset="-120"/>
              </a:rPr>
              <a:t>with Federated Learning + LoRA</a:t>
            </a:r>
            <a:endParaRPr lang="en-US" sz="1400" dirty="0"/>
          </a:p>
        </p:txBody>
      </p:sp>
      <p:sp>
        <p:nvSpPr>
          <p:cNvPr id="7" name="Shape 5"/>
          <p:cNvSpPr/>
          <p:nvPr/>
        </p:nvSpPr>
        <p:spPr>
          <a:xfrm>
            <a:off x="502920" y="3337560"/>
            <a:ext cx="5029200" cy="0"/>
          </a:xfrm>
          <a:prstGeom prst="line">
            <a:avLst/>
          </a:prstGeom>
          <a:noFill/>
          <a:ln w="15240">
            <a:solidFill>
              <a:srgbClr val="2E6FD8"/>
            </a:solidFill>
            <a:prstDash val="solid"/>
          </a:ln>
        </p:spPr>
        <p:txBody>
          <a:bodyPr/>
          <a:lstStyle/>
          <a:p>
            <a:endParaRPr lang="en-US"/>
          </a:p>
        </p:txBody>
      </p:sp>
      <p:sp>
        <p:nvSpPr>
          <p:cNvPr id="8" name="Text 6"/>
          <p:cNvSpPr/>
          <p:nvPr/>
        </p:nvSpPr>
        <p:spPr>
          <a:xfrm>
            <a:off x="502920" y="3520440"/>
            <a:ext cx="6400800" cy="822960"/>
          </a:xfrm>
          <a:prstGeom prst="rect">
            <a:avLst/>
          </a:prstGeom>
          <a:noFill/>
          <a:ln/>
        </p:spPr>
        <p:txBody>
          <a:bodyPr wrap="square" rtlCol="0" anchor="ctr"/>
          <a:lstStyle/>
          <a:p>
            <a:pPr marL="0" indent="0" algn="l">
              <a:buNone/>
            </a:pPr>
            <a:r>
              <a:rPr lang="en-US" sz="1100" dirty="0">
                <a:solidFill>
                  <a:srgbClr val="8899AA"/>
                </a:solidFill>
                <a:latin typeface="Calibri" pitchFamily="34" charset="0"/>
                <a:ea typeface="Calibri" pitchFamily="34" charset="-122"/>
                <a:cs typeface="Calibri" pitchFamily="34" charset="-120"/>
              </a:rPr>
              <a:t>Huzaifa Ahmed Khan (26485)  ·  Ali Saeed (27153)  ·  Muhammad Bilal Adnan (27151)</a:t>
            </a:r>
            <a:endParaRPr lang="en-US" sz="1100" dirty="0"/>
          </a:p>
          <a:p>
            <a:pPr marL="0" indent="0" algn="l">
              <a:buNone/>
            </a:pPr>
            <a:r>
              <a:rPr lang="en-US" sz="1100" dirty="0">
                <a:solidFill>
                  <a:srgbClr val="8899AA"/>
                </a:solidFill>
                <a:latin typeface="Calibri" pitchFamily="34" charset="0"/>
                <a:ea typeface="Calibri" pitchFamily="34" charset="-122"/>
                <a:cs typeface="Calibri" pitchFamily="34" charset="-120"/>
              </a:rPr>
              <a:t>Supervisor: Dr. S.M. Faisal Iradat  ·  IBA Karachi  ·  April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2600" b="1" dirty="0">
                <a:solidFill>
                  <a:srgbClr val="0D1B3E"/>
                </a:solidFill>
                <a:latin typeface="Calibri" pitchFamily="34" charset="0"/>
                <a:ea typeface="Calibri" pitchFamily="34" charset="-122"/>
                <a:cs typeface="Calibri" pitchFamily="34" charset="-120"/>
              </a:rPr>
              <a:t>The Problem: Invoice Processing at Scale</a:t>
            </a:r>
            <a:endParaRPr lang="en-US" sz="2600" dirty="0"/>
          </a:p>
        </p:txBody>
      </p:sp>
      <p:sp>
        <p:nvSpPr>
          <p:cNvPr id="3" name="Shape 1"/>
          <p:cNvSpPr/>
          <p:nvPr/>
        </p:nvSpPr>
        <p:spPr>
          <a:xfrm>
            <a:off x="457200" y="896112"/>
            <a:ext cx="8138160" cy="36576"/>
          </a:xfrm>
          <a:prstGeom prst="rect">
            <a:avLst/>
          </a:prstGeom>
          <a:solidFill>
            <a:srgbClr val="00C4B3"/>
          </a:solidFill>
          <a:ln w="12700">
            <a:solidFill>
              <a:srgbClr val="00C4B3"/>
            </a:solidFill>
            <a:prstDash val="solid"/>
          </a:ln>
        </p:spPr>
        <p:txBody>
          <a:bodyPr/>
          <a:lstStyle/>
          <a:p>
            <a:endParaRPr lang="en-US"/>
          </a:p>
        </p:txBody>
      </p:sp>
      <p:sp>
        <p:nvSpPr>
          <p:cNvPr id="4" name="Text 2"/>
          <p:cNvSpPr/>
          <p:nvPr/>
        </p:nvSpPr>
        <p:spPr>
          <a:xfrm>
            <a:off x="457200" y="1097280"/>
            <a:ext cx="3931920" cy="347472"/>
          </a:xfrm>
          <a:prstGeom prst="rect">
            <a:avLst/>
          </a:prstGeom>
          <a:noFill/>
          <a:ln/>
        </p:spPr>
        <p:txBody>
          <a:bodyPr wrap="square" lIns="0" tIns="0" rIns="0" bIns="0" rtlCol="0" anchor="ctr"/>
          <a:lstStyle/>
          <a:p>
            <a:pPr marL="0" indent="0">
              <a:buNone/>
            </a:pPr>
            <a:r>
              <a:rPr lang="en-US" sz="1400" b="1" dirty="0">
                <a:solidFill>
                  <a:srgbClr val="2E6FD8"/>
                </a:solidFill>
                <a:latin typeface="Calibri" pitchFamily="34" charset="0"/>
                <a:ea typeface="Calibri" pitchFamily="34" charset="-122"/>
                <a:cs typeface="Calibri" pitchFamily="34" charset="-120"/>
              </a:rPr>
              <a:t>The Pain</a:t>
            </a:r>
            <a:endParaRPr lang="en-US" sz="1400" dirty="0"/>
          </a:p>
        </p:txBody>
      </p:sp>
      <p:sp>
        <p:nvSpPr>
          <p:cNvPr id="5" name="Text 3"/>
          <p:cNvSpPr/>
          <p:nvPr/>
        </p:nvSpPr>
        <p:spPr>
          <a:xfrm>
            <a:off x="457200" y="1463040"/>
            <a:ext cx="3931920" cy="2286000"/>
          </a:xfrm>
          <a:prstGeom prst="rect">
            <a:avLst/>
          </a:prstGeom>
          <a:noFill/>
          <a:ln/>
        </p:spPr>
        <p:txBody>
          <a:bodyPr wrap="square" rtlCol="0" anchor="ctr"/>
          <a:lstStyle/>
          <a:p>
            <a:pPr marL="342900" indent="-342900">
              <a:spcAft>
                <a:spcPts val="600"/>
              </a:spcAft>
              <a:buSzPct val="100000"/>
              <a:buChar char="•"/>
            </a:pPr>
            <a:r>
              <a:rPr lang="en-US" sz="1300" dirty="0">
                <a:solidFill>
                  <a:srgbClr val="1E2433"/>
                </a:solidFill>
                <a:latin typeface="Calibri" pitchFamily="34" charset="0"/>
                <a:ea typeface="Calibri" pitchFamily="34" charset="-122"/>
                <a:cs typeface="Calibri" pitchFamily="34" charset="-120"/>
              </a:rPr>
              <a:t>Hundreds–thousands of invoices per month</a:t>
            </a:r>
            <a:endParaRPr lang="en-US" sz="1300" dirty="0"/>
          </a:p>
          <a:p>
            <a:pPr marL="342900" indent="-342900">
              <a:spcAft>
                <a:spcPts val="600"/>
              </a:spcAft>
              <a:buSzPct val="100000"/>
              <a:buChar char="•"/>
            </a:pPr>
            <a:r>
              <a:rPr lang="en-US" sz="1300" dirty="0">
                <a:solidFill>
                  <a:srgbClr val="1E2433"/>
                </a:solidFill>
                <a:latin typeface="Calibri" pitchFamily="34" charset="0"/>
                <a:ea typeface="Calibri" pitchFamily="34" charset="-122"/>
                <a:cs typeface="Calibri" pitchFamily="34" charset="-120"/>
              </a:rPr>
              <a:t>Arrive in wildly different formats: PDF, image, spreadsheet, multi-language</a:t>
            </a:r>
            <a:endParaRPr lang="en-US" sz="1300" dirty="0"/>
          </a:p>
          <a:p>
            <a:pPr marL="342900" indent="-342900">
              <a:spcAft>
                <a:spcPts val="600"/>
              </a:spcAft>
              <a:buSzPct val="100000"/>
              <a:buChar char="•"/>
            </a:pPr>
            <a:r>
              <a:rPr lang="en-US" sz="1300" dirty="0">
                <a:solidFill>
                  <a:srgbClr val="1E2433"/>
                </a:solidFill>
                <a:latin typeface="Calibri" pitchFamily="34" charset="0"/>
                <a:ea typeface="Calibri" pitchFamily="34" charset="-122"/>
                <a:cs typeface="Calibri" pitchFamily="34" charset="-120"/>
              </a:rPr>
              <a:t>Today's approach: manual entry or primitive RPA(robotic process automation) + OCR scripts</a:t>
            </a:r>
            <a:endParaRPr lang="en-US" sz="1300" dirty="0"/>
          </a:p>
          <a:p>
            <a:pPr marL="342900" indent="-342900">
              <a:buSzPct val="100000"/>
              <a:buChar char="•"/>
            </a:pPr>
            <a:r>
              <a:rPr lang="en-US" sz="1300" dirty="0">
                <a:solidFill>
                  <a:srgbClr val="1E2433"/>
                </a:solidFill>
                <a:latin typeface="Calibri" pitchFamily="34" charset="0"/>
                <a:ea typeface="Calibri" pitchFamily="34" charset="-122"/>
                <a:cs typeface="Calibri" pitchFamily="34" charset="-120"/>
              </a:rPr>
              <a:t>Time-critical — vendors have payment terms</a:t>
            </a:r>
            <a:endParaRPr lang="en-US" sz="1300" dirty="0"/>
          </a:p>
        </p:txBody>
      </p:sp>
      <p:sp>
        <p:nvSpPr>
          <p:cNvPr id="6" name="Text 4"/>
          <p:cNvSpPr/>
          <p:nvPr/>
        </p:nvSpPr>
        <p:spPr>
          <a:xfrm>
            <a:off x="4663440" y="1097280"/>
            <a:ext cx="4023360" cy="347472"/>
          </a:xfrm>
          <a:prstGeom prst="rect">
            <a:avLst/>
          </a:prstGeom>
          <a:noFill/>
          <a:ln/>
        </p:spPr>
        <p:txBody>
          <a:bodyPr wrap="square" lIns="0" tIns="0" rIns="0" bIns="0" rtlCol="0" anchor="ctr"/>
          <a:lstStyle/>
          <a:p>
            <a:pPr marL="0" indent="0">
              <a:buNone/>
            </a:pPr>
            <a:r>
              <a:rPr lang="en-US" sz="1400" b="1" dirty="0">
                <a:solidFill>
                  <a:srgbClr val="2E6FD8"/>
                </a:solidFill>
                <a:latin typeface="Calibri" pitchFamily="34" charset="0"/>
                <a:ea typeface="Calibri" pitchFamily="34" charset="-122"/>
                <a:cs typeface="Calibri" pitchFamily="34" charset="-120"/>
              </a:rPr>
              <a:t>Real-World Consequences</a:t>
            </a:r>
            <a:endParaRPr lang="en-US" sz="1400" dirty="0"/>
          </a:p>
        </p:txBody>
      </p:sp>
      <p:sp>
        <p:nvSpPr>
          <p:cNvPr id="7" name="Shape 5"/>
          <p:cNvSpPr/>
          <p:nvPr/>
        </p:nvSpPr>
        <p:spPr>
          <a:xfrm>
            <a:off x="4663440" y="1463040"/>
            <a:ext cx="4023360" cy="804672"/>
          </a:xfrm>
          <a:prstGeom prst="rect">
            <a:avLst/>
          </a:prstGeom>
          <a:solidFill>
            <a:srgbClr val="E63946"/>
          </a:solidFill>
          <a:ln w="12700">
            <a:solidFill>
              <a:srgbClr val="E63946"/>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4773168" y="1554480"/>
            <a:ext cx="3803904"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Duplicate Payments</a:t>
            </a:r>
            <a:endParaRPr lang="en-US" sz="1100" dirty="0"/>
          </a:p>
        </p:txBody>
      </p:sp>
      <p:sp>
        <p:nvSpPr>
          <p:cNvPr id="9" name="Text 7"/>
          <p:cNvSpPr/>
          <p:nvPr/>
        </p:nvSpPr>
        <p:spPr>
          <a:xfrm>
            <a:off x="4773168" y="1883664"/>
            <a:ext cx="3803904" cy="292608"/>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Same invoice paid twice — millions lost annually</a:t>
            </a:r>
            <a:endParaRPr lang="en-US" sz="1050" dirty="0"/>
          </a:p>
        </p:txBody>
      </p:sp>
      <p:sp>
        <p:nvSpPr>
          <p:cNvPr id="10" name="Shape 8"/>
          <p:cNvSpPr/>
          <p:nvPr/>
        </p:nvSpPr>
        <p:spPr>
          <a:xfrm>
            <a:off x="4663440" y="2359152"/>
            <a:ext cx="4023360" cy="804672"/>
          </a:xfrm>
          <a:prstGeom prst="rect">
            <a:avLst/>
          </a:prstGeom>
          <a:solidFill>
            <a:srgbClr val="F4A261"/>
          </a:solidFill>
          <a:ln w="12700">
            <a:solidFill>
              <a:srgbClr val="F4A261"/>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4773168" y="2450592"/>
            <a:ext cx="3803904"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Overbilling</a:t>
            </a:r>
            <a:endParaRPr lang="en-US" sz="1100" dirty="0"/>
          </a:p>
        </p:txBody>
      </p:sp>
      <p:sp>
        <p:nvSpPr>
          <p:cNvPr id="12" name="Text 10"/>
          <p:cNvSpPr/>
          <p:nvPr/>
        </p:nvSpPr>
        <p:spPr>
          <a:xfrm>
            <a:off x="4773168" y="2779776"/>
            <a:ext cx="3803904" cy="292608"/>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Amounts don't match PO, missed under time pressure</a:t>
            </a:r>
            <a:endParaRPr lang="en-US" sz="1050" dirty="0"/>
          </a:p>
        </p:txBody>
      </p:sp>
      <p:sp>
        <p:nvSpPr>
          <p:cNvPr id="13" name="Shape 11"/>
          <p:cNvSpPr/>
          <p:nvPr/>
        </p:nvSpPr>
        <p:spPr>
          <a:xfrm>
            <a:off x="4663440" y="3255264"/>
            <a:ext cx="4023360" cy="804672"/>
          </a:xfrm>
          <a:prstGeom prst="rect">
            <a:avLst/>
          </a:prstGeom>
          <a:solidFill>
            <a:srgbClr val="1A3A7C"/>
          </a:solidFill>
          <a:ln w="12700">
            <a:solidFill>
              <a:srgbClr val="1A3A7C"/>
            </a:solidFill>
            <a:prstDash val="solid"/>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4773168" y="3346704"/>
            <a:ext cx="3803904"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Compliance Failures</a:t>
            </a:r>
            <a:endParaRPr lang="en-US" sz="1100" dirty="0"/>
          </a:p>
        </p:txBody>
      </p:sp>
      <p:sp>
        <p:nvSpPr>
          <p:cNvPr id="15" name="Text 13"/>
          <p:cNvSpPr/>
          <p:nvPr/>
        </p:nvSpPr>
        <p:spPr>
          <a:xfrm>
            <a:off x="4773168" y="3675888"/>
            <a:ext cx="3803904" cy="292608"/>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Audit exposure from missing PO/contract matching</a:t>
            </a:r>
            <a:endParaRPr lang="en-US" sz="1050" dirty="0"/>
          </a:p>
        </p:txBody>
      </p:sp>
      <p:sp>
        <p:nvSpPr>
          <p:cNvPr id="16" name="Shape 14"/>
          <p:cNvSpPr/>
          <p:nvPr/>
        </p:nvSpPr>
        <p:spPr>
          <a:xfrm>
            <a:off x="4663440" y="4151376"/>
            <a:ext cx="4023360" cy="804672"/>
          </a:xfrm>
          <a:prstGeom prst="rect">
            <a:avLst/>
          </a:prstGeom>
          <a:solidFill>
            <a:srgbClr val="2E6FD8"/>
          </a:solidFill>
          <a:ln w="1270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17" name="Text 15"/>
          <p:cNvSpPr/>
          <p:nvPr/>
        </p:nvSpPr>
        <p:spPr>
          <a:xfrm>
            <a:off x="4773168" y="4242816"/>
            <a:ext cx="3803904"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Data Privacy Risk</a:t>
            </a:r>
            <a:endParaRPr lang="en-US" sz="1100" dirty="0"/>
          </a:p>
        </p:txBody>
      </p:sp>
      <p:sp>
        <p:nvSpPr>
          <p:cNvPr id="18" name="Text 16"/>
          <p:cNvSpPr/>
          <p:nvPr/>
        </p:nvSpPr>
        <p:spPr>
          <a:xfrm>
            <a:off x="4773168" y="4572000"/>
            <a:ext cx="3803904" cy="292608"/>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Cloud tools upload raw docs to third-party servers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Existing Solutions — And Why They Fall Short</a:t>
            </a:r>
            <a:endParaRPr lang="en-US" sz="2600" dirty="0"/>
          </a:p>
        </p:txBody>
      </p:sp>
      <p:sp>
        <p:nvSpPr>
          <p:cNvPr id="3" name="Shape 1"/>
          <p:cNvSpPr/>
          <p:nvPr/>
        </p:nvSpPr>
        <p:spPr>
          <a:xfrm>
            <a:off x="457200" y="896112"/>
            <a:ext cx="8138160" cy="36576"/>
          </a:xfrm>
          <a:prstGeom prst="rect">
            <a:avLst/>
          </a:prstGeom>
          <a:solidFill>
            <a:srgbClr val="00C4B3"/>
          </a:solidFill>
          <a:ln w="12700">
            <a:solidFill>
              <a:srgbClr val="00C4B3"/>
            </a:solidFill>
            <a:prstDash val="solid"/>
          </a:ln>
        </p:spPr>
        <p:txBody>
          <a:bodyPr/>
          <a:lstStyle/>
          <a:p>
            <a:endParaRPr lang="en-US"/>
          </a:p>
        </p:txBody>
      </p:sp>
      <p:sp>
        <p:nvSpPr>
          <p:cNvPr id="4" name="Shape 2"/>
          <p:cNvSpPr/>
          <p:nvPr/>
        </p:nvSpPr>
        <p:spPr>
          <a:xfrm>
            <a:off x="365760" y="1005840"/>
            <a:ext cx="2743200" cy="3657600"/>
          </a:xfrm>
          <a:prstGeom prst="rect">
            <a:avLst/>
          </a:prstGeom>
          <a:solidFill>
            <a:srgbClr val="1A3A7C"/>
          </a:solidFill>
          <a:ln w="12700">
            <a:solidFill>
              <a:srgbClr val="1A3A7C"/>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475488" y="1097280"/>
            <a:ext cx="2523744" cy="5943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Traditional OCR</a:t>
            </a:r>
            <a:endParaRPr lang="en-US" sz="1250" dirty="0"/>
          </a:p>
          <a:p>
            <a:pPr marL="0" indent="0">
              <a:buNone/>
            </a:pPr>
            <a:r>
              <a:rPr lang="en-US" sz="1250" b="1" dirty="0">
                <a:solidFill>
                  <a:srgbClr val="FFFFFF"/>
                </a:solidFill>
                <a:latin typeface="Calibri" pitchFamily="34" charset="0"/>
                <a:ea typeface="Calibri" pitchFamily="34" charset="-122"/>
                <a:cs typeface="Calibri" pitchFamily="34" charset="-120"/>
              </a:rPr>
              <a:t>(</a:t>
            </a:r>
            <a:r>
              <a:rPr lang="en-US" sz="1250" b="1" dirty="0" err="1">
                <a:solidFill>
                  <a:srgbClr val="FFFFFF"/>
                </a:solidFill>
                <a:latin typeface="Calibri" pitchFamily="34" charset="0"/>
                <a:ea typeface="Calibri" pitchFamily="34" charset="-122"/>
                <a:cs typeface="Calibri" pitchFamily="34" charset="-120"/>
              </a:rPr>
              <a:t>Tesseract,PaddleOCR</a:t>
            </a: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6" name="Text 4"/>
          <p:cNvSpPr/>
          <p:nvPr/>
        </p:nvSpPr>
        <p:spPr>
          <a:xfrm>
            <a:off x="475488" y="1719072"/>
            <a:ext cx="2523744" cy="2834640"/>
          </a:xfrm>
          <a:prstGeom prst="rect">
            <a:avLst/>
          </a:prstGeom>
          <a:noFill/>
          <a:ln/>
        </p:spPr>
        <p:txBody>
          <a:bodyPr wrap="square" rtlCol="0" anchor="t"/>
          <a:lstStyle/>
          <a:p>
            <a:pPr marL="342900" indent="-342900">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Converts image → text</a:t>
            </a:r>
            <a:endParaRPr lang="en-US" sz="1150" dirty="0"/>
          </a:p>
          <a:p>
            <a:pPr marL="342900" indent="-342900">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No layout understanding</a:t>
            </a:r>
            <a:endParaRPr lang="en-US" sz="1150" dirty="0"/>
          </a:p>
          <a:p>
            <a:pPr marL="342900" indent="-342900">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"1,250.00" could be anything</a:t>
            </a:r>
            <a:endParaRPr lang="en-US" sz="1150" dirty="0"/>
          </a:p>
          <a:p>
            <a:pPr marL="342900" indent="-342900">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Breaks on non-standard formats</a:t>
            </a:r>
            <a:endParaRPr lang="en-US" sz="1150" dirty="0"/>
          </a:p>
        </p:txBody>
      </p:sp>
      <p:sp>
        <p:nvSpPr>
          <p:cNvPr id="7" name="Shape 5"/>
          <p:cNvSpPr/>
          <p:nvPr/>
        </p:nvSpPr>
        <p:spPr>
          <a:xfrm>
            <a:off x="3291840" y="1005840"/>
            <a:ext cx="2743200" cy="3657600"/>
          </a:xfrm>
          <a:prstGeom prst="rect">
            <a:avLst/>
          </a:prstGeom>
          <a:solidFill>
            <a:srgbClr val="2E6FD8"/>
          </a:solidFill>
          <a:ln w="1270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3401568" y="1097280"/>
            <a:ext cx="2523744" cy="5943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Cloud Document AI</a:t>
            </a:r>
            <a:endParaRPr lang="en-US" sz="1250" dirty="0"/>
          </a:p>
          <a:p>
            <a:pPr marL="0" indent="0">
              <a:buNone/>
            </a:pPr>
            <a:r>
              <a:rPr lang="en-US" sz="1250" b="1" dirty="0">
                <a:solidFill>
                  <a:srgbClr val="FFFFFF"/>
                </a:solidFill>
                <a:latin typeface="Calibri" pitchFamily="34" charset="0"/>
                <a:ea typeface="Calibri" pitchFamily="34" charset="-122"/>
                <a:cs typeface="Calibri" pitchFamily="34" charset="-120"/>
              </a:rPr>
              <a:t>(AWS, Azure, Google)</a:t>
            </a:r>
            <a:endParaRPr lang="en-US" sz="1250" dirty="0"/>
          </a:p>
        </p:txBody>
      </p:sp>
      <p:sp>
        <p:nvSpPr>
          <p:cNvPr id="9" name="Text 7"/>
          <p:cNvSpPr/>
          <p:nvPr/>
        </p:nvSpPr>
        <p:spPr>
          <a:xfrm>
            <a:off x="3401568" y="1719072"/>
            <a:ext cx="2523744" cy="2834640"/>
          </a:xfrm>
          <a:prstGeom prst="rect">
            <a:avLst/>
          </a:prstGeom>
          <a:noFill/>
          <a:ln/>
        </p:spPr>
        <p:txBody>
          <a:bodyPr wrap="square" rtlCol="0" anchor="t"/>
          <a:lstStyle/>
          <a:p>
            <a:pPr marL="342900" indent="-342900">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Layout-aware extraction</a:t>
            </a:r>
            <a:endParaRPr lang="en-US" sz="1150" dirty="0"/>
          </a:p>
          <a:p>
            <a:pPr marL="342900" indent="-342900">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Privacy risk — data leaves your network</a:t>
            </a:r>
            <a:endParaRPr lang="en-US" sz="1150" dirty="0"/>
          </a:p>
          <a:p>
            <a:pPr marL="342900" indent="-342900">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Per-page cost at scale is unsustainable</a:t>
            </a:r>
            <a:endParaRPr lang="en-US" sz="1150" dirty="0"/>
          </a:p>
          <a:p>
            <a:pPr marL="342900" indent="-342900">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Cannot adapt to your vendor patterns</a:t>
            </a:r>
            <a:endParaRPr lang="en-US" sz="1150" dirty="0"/>
          </a:p>
        </p:txBody>
      </p:sp>
      <p:sp>
        <p:nvSpPr>
          <p:cNvPr id="10" name="Shape 8"/>
          <p:cNvSpPr/>
          <p:nvPr/>
        </p:nvSpPr>
        <p:spPr>
          <a:xfrm>
            <a:off x="6217920" y="1005840"/>
            <a:ext cx="2743200" cy="3657600"/>
          </a:xfrm>
          <a:prstGeom prst="rect">
            <a:avLst/>
          </a:prstGeom>
          <a:solidFill>
            <a:srgbClr val="00C4B3"/>
          </a:solidFill>
          <a:ln w="12700">
            <a:solidFill>
              <a:srgbClr val="00C4B3"/>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6327648" y="1097280"/>
            <a:ext cx="2523744" cy="5943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The Missing Piece</a:t>
            </a:r>
            <a:endParaRPr lang="en-US" sz="1250" dirty="0"/>
          </a:p>
        </p:txBody>
      </p:sp>
      <p:sp>
        <p:nvSpPr>
          <p:cNvPr id="12" name="Text 10"/>
          <p:cNvSpPr/>
          <p:nvPr/>
        </p:nvSpPr>
        <p:spPr>
          <a:xfrm>
            <a:off x="6327648" y="1719072"/>
            <a:ext cx="2523744" cy="2834640"/>
          </a:xfrm>
          <a:prstGeom prst="rect">
            <a:avLst/>
          </a:prstGeom>
          <a:noFill/>
          <a:ln/>
        </p:spPr>
        <p:txBody>
          <a:bodyPr wrap="square" rtlCol="0" anchor="t"/>
          <a:lstStyle/>
          <a:p>
            <a:pPr marL="0" indent="0">
              <a:spcAft>
                <a:spcPts val="700"/>
              </a:spcAft>
              <a:buNone/>
            </a:pPr>
            <a:r>
              <a:rPr lang="en-US" sz="1150" dirty="0">
                <a:solidFill>
                  <a:srgbClr val="FFFFFF"/>
                </a:solidFill>
                <a:latin typeface="Calibri" pitchFamily="34" charset="0"/>
                <a:ea typeface="Calibri" pitchFamily="34" charset="-122"/>
                <a:cs typeface="Calibri" pitchFamily="34" charset="-120"/>
              </a:rPr>
              <a:t>No solution combines all of:</a:t>
            </a:r>
            <a:endParaRPr lang="en-US" sz="1150" dirty="0"/>
          </a:p>
          <a:p>
            <a:pPr marL="0" indent="0">
              <a:spcAft>
                <a:spcPts val="700"/>
              </a:spcAft>
              <a:buNone/>
            </a:pPr>
            <a:r>
              <a:rPr lang="en-US" sz="1150" dirty="0">
                <a:solidFill>
                  <a:srgbClr val="FFFFFF"/>
                </a:solidFill>
                <a:latin typeface="Calibri" pitchFamily="34" charset="0"/>
                <a:ea typeface="Calibri" pitchFamily="34" charset="-122"/>
                <a:cs typeface="Calibri" pitchFamily="34" charset="-120"/>
              </a:rPr>
              <a:t>✓  Layout understanding</a:t>
            </a:r>
            <a:endParaRPr lang="en-US" sz="1150" dirty="0"/>
          </a:p>
          <a:p>
            <a:pPr marL="0" indent="0">
              <a:spcAft>
                <a:spcPts val="700"/>
              </a:spcAft>
              <a:buNone/>
            </a:pPr>
            <a:r>
              <a:rPr lang="en-US" sz="1150" dirty="0">
                <a:solidFill>
                  <a:srgbClr val="FFFFFF"/>
                </a:solidFill>
                <a:latin typeface="Calibri" pitchFamily="34" charset="0"/>
                <a:ea typeface="Calibri" pitchFamily="34" charset="-122"/>
                <a:cs typeface="Calibri" pitchFamily="34" charset="-120"/>
              </a:rPr>
              <a:t>✓  Privacy-preserving learning</a:t>
            </a:r>
            <a:endParaRPr lang="en-US" sz="1150" dirty="0"/>
          </a:p>
          <a:p>
            <a:pPr marL="0" indent="0">
              <a:spcAft>
                <a:spcPts val="700"/>
              </a:spcAft>
              <a:buNone/>
            </a:pPr>
            <a:r>
              <a:rPr lang="en-US" sz="1150" dirty="0">
                <a:solidFill>
                  <a:srgbClr val="FFFFFF"/>
                </a:solidFill>
                <a:latin typeface="Calibri" pitchFamily="34" charset="0"/>
                <a:ea typeface="Calibri" pitchFamily="34" charset="-122"/>
                <a:cs typeface="Calibri" pitchFamily="34" charset="-120"/>
              </a:rPr>
              <a:t>✓  Fraud / anomaly detection</a:t>
            </a:r>
            <a:endParaRPr lang="en-US" sz="1150" dirty="0"/>
          </a:p>
          <a:p>
            <a:pPr marL="0" indent="0">
              <a:spcAft>
                <a:spcPts val="700"/>
              </a:spcAft>
              <a:buNone/>
            </a:pPr>
            <a:r>
              <a:rPr lang="en-US" sz="1150" dirty="0">
                <a:solidFill>
                  <a:srgbClr val="FFFFFF"/>
                </a:solidFill>
                <a:latin typeface="Calibri" pitchFamily="34" charset="0"/>
                <a:ea typeface="Calibri" pitchFamily="34" charset="-122"/>
                <a:cs typeface="Calibri" pitchFamily="34" charset="-120"/>
              </a:rPr>
              <a:t>✓  Intelligent fallback chain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2600" b="1" dirty="0">
                <a:solidFill>
                  <a:srgbClr val="0D1B3E"/>
                </a:solidFill>
                <a:latin typeface="Calibri" pitchFamily="34" charset="0"/>
                <a:ea typeface="Calibri" pitchFamily="34" charset="-122"/>
                <a:cs typeface="Calibri" pitchFamily="34" charset="-120"/>
              </a:rPr>
              <a:t>Our Approach: Four Technologies, One Unified System</a:t>
            </a:r>
            <a:endParaRPr lang="en-US" sz="2600" dirty="0"/>
          </a:p>
        </p:txBody>
      </p:sp>
      <p:sp>
        <p:nvSpPr>
          <p:cNvPr id="3" name="Shape 1"/>
          <p:cNvSpPr/>
          <p:nvPr/>
        </p:nvSpPr>
        <p:spPr>
          <a:xfrm>
            <a:off x="457200" y="896112"/>
            <a:ext cx="8138160" cy="36576"/>
          </a:xfrm>
          <a:prstGeom prst="rect">
            <a:avLst/>
          </a:prstGeom>
          <a:solidFill>
            <a:srgbClr val="00C4B3"/>
          </a:solidFill>
          <a:ln w="12700">
            <a:solidFill>
              <a:srgbClr val="00C4B3"/>
            </a:solidFill>
            <a:prstDash val="solid"/>
          </a:ln>
        </p:spPr>
        <p:txBody>
          <a:bodyPr/>
          <a:lstStyle/>
          <a:p>
            <a:endParaRPr lang="en-US"/>
          </a:p>
        </p:txBody>
      </p:sp>
      <p:sp>
        <p:nvSpPr>
          <p:cNvPr id="4" name="Shape 2"/>
          <p:cNvSpPr/>
          <p:nvPr/>
        </p:nvSpPr>
        <p:spPr>
          <a:xfrm>
            <a:off x="411480" y="1051560"/>
            <a:ext cx="4114800" cy="1691640"/>
          </a:xfrm>
          <a:prstGeom prst="rect">
            <a:avLst/>
          </a:prstGeom>
          <a:solidFill>
            <a:srgbClr val="FFFFFF"/>
          </a:solidFill>
          <a:ln w="15240">
            <a:solidFill>
              <a:srgbClr val="D8E4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411480" y="1051560"/>
            <a:ext cx="164592" cy="1691640"/>
          </a:xfrm>
          <a:prstGeom prst="rect">
            <a:avLst/>
          </a:prstGeom>
          <a:solidFill>
            <a:srgbClr val="0D1B3E"/>
          </a:solidFill>
          <a:ln w="12700">
            <a:solidFill>
              <a:srgbClr val="0D1B3E"/>
            </a:solidFill>
            <a:prstDash val="solid"/>
          </a:ln>
        </p:spPr>
        <p:txBody>
          <a:bodyPr/>
          <a:lstStyle/>
          <a:p>
            <a:endParaRPr lang="en-US"/>
          </a:p>
        </p:txBody>
      </p:sp>
      <p:sp>
        <p:nvSpPr>
          <p:cNvPr id="6" name="Text 4"/>
          <p:cNvSpPr/>
          <p:nvPr/>
        </p:nvSpPr>
        <p:spPr>
          <a:xfrm>
            <a:off x="667512" y="1216152"/>
            <a:ext cx="3749040" cy="384048"/>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LayoutLMv3</a:t>
            </a:r>
            <a:endParaRPr lang="en-US" sz="1400" dirty="0"/>
          </a:p>
        </p:txBody>
      </p:sp>
      <p:sp>
        <p:nvSpPr>
          <p:cNvPr id="7" name="Text 5"/>
          <p:cNvSpPr/>
          <p:nvPr/>
        </p:nvSpPr>
        <p:spPr>
          <a:xfrm>
            <a:off x="667512" y="1618488"/>
            <a:ext cx="3749040" cy="960120"/>
          </a:xfrm>
          <a:prstGeom prst="rect">
            <a:avLst/>
          </a:prstGeom>
          <a:noFill/>
          <a:ln/>
        </p:spPr>
        <p:txBody>
          <a:bodyPr wrap="square" lIns="0" tIns="0" rIns="0" bIns="0" rtlCol="0" anchor="t"/>
          <a:lstStyle/>
          <a:p>
            <a:pPr marL="0" indent="0">
              <a:buNone/>
            </a:pPr>
            <a:r>
              <a:rPr lang="en-US" sz="1150" dirty="0">
                <a:solidFill>
                  <a:srgbClr val="1E2433"/>
                </a:solidFill>
                <a:latin typeface="Calibri" pitchFamily="34" charset="0"/>
                <a:ea typeface="Calibri" pitchFamily="34" charset="-122"/>
                <a:cs typeface="Calibri" pitchFamily="34" charset="-120"/>
              </a:rPr>
              <a:t>Document understanding — reads text AND visual layout simultaneously. </a:t>
            </a:r>
            <a:endParaRPr lang="en-US" sz="1150" dirty="0"/>
          </a:p>
        </p:txBody>
      </p:sp>
      <p:sp>
        <p:nvSpPr>
          <p:cNvPr id="8" name="Shape 6"/>
          <p:cNvSpPr/>
          <p:nvPr/>
        </p:nvSpPr>
        <p:spPr>
          <a:xfrm>
            <a:off x="4709160" y="1051560"/>
            <a:ext cx="4114800" cy="1691640"/>
          </a:xfrm>
          <a:prstGeom prst="rect">
            <a:avLst/>
          </a:prstGeom>
          <a:solidFill>
            <a:srgbClr val="FFFFFF"/>
          </a:solidFill>
          <a:ln w="15240">
            <a:solidFill>
              <a:srgbClr val="D8E4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709160" y="1051560"/>
            <a:ext cx="164592" cy="1691640"/>
          </a:xfrm>
          <a:prstGeom prst="rect">
            <a:avLst/>
          </a:prstGeom>
          <a:solidFill>
            <a:srgbClr val="2E6FD8"/>
          </a:solidFill>
          <a:ln w="12700">
            <a:solidFill>
              <a:srgbClr val="2E6FD8"/>
            </a:solidFill>
            <a:prstDash val="solid"/>
          </a:ln>
        </p:spPr>
        <p:txBody>
          <a:bodyPr/>
          <a:lstStyle/>
          <a:p>
            <a:endParaRPr lang="en-US"/>
          </a:p>
        </p:txBody>
      </p:sp>
      <p:sp>
        <p:nvSpPr>
          <p:cNvPr id="10" name="Text 8"/>
          <p:cNvSpPr/>
          <p:nvPr/>
        </p:nvSpPr>
        <p:spPr>
          <a:xfrm>
            <a:off x="4965192" y="1216152"/>
            <a:ext cx="3749040" cy="384048"/>
          </a:xfrm>
          <a:prstGeom prst="rect">
            <a:avLst/>
          </a:prstGeom>
          <a:noFill/>
          <a:ln/>
        </p:spPr>
        <p:txBody>
          <a:bodyPr wrap="square" lIns="0" tIns="0" rIns="0" bIns="0" rtlCol="0" anchor="ctr"/>
          <a:lstStyle/>
          <a:p>
            <a:pPr marL="0" indent="0">
              <a:buNone/>
            </a:pPr>
            <a:r>
              <a:rPr lang="en-US" sz="1400" b="1" dirty="0">
                <a:solidFill>
                  <a:srgbClr val="2E6FD8"/>
                </a:solidFill>
                <a:latin typeface="Calibri" pitchFamily="34" charset="0"/>
                <a:ea typeface="Calibri" pitchFamily="34" charset="-122"/>
                <a:cs typeface="Calibri" pitchFamily="34" charset="-120"/>
              </a:rPr>
              <a:t>Federated Learning</a:t>
            </a:r>
            <a:endParaRPr lang="en-US" sz="1400" dirty="0"/>
          </a:p>
        </p:txBody>
      </p:sp>
      <p:sp>
        <p:nvSpPr>
          <p:cNvPr id="11" name="Text 9"/>
          <p:cNvSpPr/>
          <p:nvPr/>
        </p:nvSpPr>
        <p:spPr>
          <a:xfrm>
            <a:off x="4965192" y="1618488"/>
            <a:ext cx="3749040" cy="960120"/>
          </a:xfrm>
          <a:prstGeom prst="rect">
            <a:avLst/>
          </a:prstGeom>
          <a:noFill/>
          <a:ln/>
        </p:spPr>
        <p:txBody>
          <a:bodyPr wrap="square" lIns="0" tIns="0" rIns="0" bIns="0" rtlCol="0" anchor="t"/>
          <a:lstStyle/>
          <a:p>
            <a:pPr marL="0" indent="0">
              <a:buNone/>
            </a:pPr>
            <a:r>
              <a:rPr lang="en-US" sz="1150" dirty="0">
                <a:solidFill>
                  <a:srgbClr val="1E2433"/>
                </a:solidFill>
                <a:latin typeface="Calibri" pitchFamily="34" charset="0"/>
                <a:ea typeface="Calibri" pitchFamily="34" charset="-122"/>
                <a:cs typeface="Calibri" pitchFamily="34" charset="-120"/>
              </a:rPr>
              <a:t>Train across multiple organizations. Raw invoice data never leaves the client. Legally compliant, GDPR-safe.</a:t>
            </a:r>
            <a:endParaRPr lang="en-US" sz="1150" dirty="0"/>
          </a:p>
        </p:txBody>
      </p:sp>
      <p:sp>
        <p:nvSpPr>
          <p:cNvPr id="12" name="Shape 10"/>
          <p:cNvSpPr/>
          <p:nvPr/>
        </p:nvSpPr>
        <p:spPr>
          <a:xfrm>
            <a:off x="411480" y="2971800"/>
            <a:ext cx="4114800" cy="1691640"/>
          </a:xfrm>
          <a:prstGeom prst="rect">
            <a:avLst/>
          </a:prstGeom>
          <a:solidFill>
            <a:srgbClr val="FFFFFF"/>
          </a:solidFill>
          <a:ln w="15240">
            <a:solidFill>
              <a:srgbClr val="D8E4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411480" y="2971800"/>
            <a:ext cx="164592" cy="1691640"/>
          </a:xfrm>
          <a:prstGeom prst="rect">
            <a:avLst/>
          </a:prstGeom>
          <a:solidFill>
            <a:srgbClr val="00C4B3"/>
          </a:solidFill>
          <a:ln w="12700">
            <a:solidFill>
              <a:srgbClr val="00C4B3"/>
            </a:solidFill>
            <a:prstDash val="solid"/>
          </a:ln>
        </p:spPr>
        <p:txBody>
          <a:bodyPr/>
          <a:lstStyle/>
          <a:p>
            <a:endParaRPr lang="en-US"/>
          </a:p>
        </p:txBody>
      </p:sp>
      <p:sp>
        <p:nvSpPr>
          <p:cNvPr id="14" name="Text 12"/>
          <p:cNvSpPr/>
          <p:nvPr/>
        </p:nvSpPr>
        <p:spPr>
          <a:xfrm>
            <a:off x="667512" y="3136392"/>
            <a:ext cx="3749040" cy="384048"/>
          </a:xfrm>
          <a:prstGeom prst="rect">
            <a:avLst/>
          </a:prstGeom>
          <a:noFill/>
          <a:ln/>
        </p:spPr>
        <p:txBody>
          <a:bodyPr wrap="square" lIns="0" tIns="0" rIns="0" bIns="0" rtlCol="0" anchor="ctr"/>
          <a:lstStyle/>
          <a:p>
            <a:pPr marL="0" indent="0">
              <a:buNone/>
            </a:pPr>
            <a:r>
              <a:rPr lang="en-US" sz="1400" b="1" dirty="0">
                <a:solidFill>
                  <a:srgbClr val="00C4B3"/>
                </a:solidFill>
                <a:latin typeface="Calibri" pitchFamily="34" charset="0"/>
                <a:ea typeface="Calibri" pitchFamily="34" charset="-122"/>
                <a:cs typeface="Calibri" pitchFamily="34" charset="-120"/>
              </a:rPr>
              <a:t>LoRA</a:t>
            </a:r>
            <a:endParaRPr lang="en-US" sz="1400" dirty="0"/>
          </a:p>
        </p:txBody>
      </p:sp>
      <p:sp>
        <p:nvSpPr>
          <p:cNvPr id="15" name="Text 13"/>
          <p:cNvSpPr/>
          <p:nvPr/>
        </p:nvSpPr>
        <p:spPr>
          <a:xfrm>
            <a:off x="667512" y="3538728"/>
            <a:ext cx="3749040" cy="960120"/>
          </a:xfrm>
          <a:prstGeom prst="rect">
            <a:avLst/>
          </a:prstGeom>
          <a:noFill/>
          <a:ln/>
        </p:spPr>
        <p:txBody>
          <a:bodyPr wrap="square" lIns="0" tIns="0" rIns="0" bIns="0" rtlCol="0" anchor="t"/>
          <a:lstStyle/>
          <a:p>
            <a:pPr marL="0" indent="0">
              <a:buNone/>
            </a:pPr>
            <a:r>
              <a:rPr lang="en-US" sz="1150" dirty="0">
                <a:solidFill>
                  <a:srgbClr val="1E2433"/>
                </a:solidFill>
                <a:latin typeface="Calibri" pitchFamily="34" charset="0"/>
                <a:ea typeface="Calibri" pitchFamily="34" charset="-122"/>
                <a:cs typeface="Calibri" pitchFamily="34" charset="-120"/>
              </a:rPr>
              <a:t>Fine-tune a 110M parameter model with only 294K trainable parameters. Makes FL on client hardware feasible.</a:t>
            </a:r>
            <a:endParaRPr lang="en-US" sz="1150" dirty="0"/>
          </a:p>
        </p:txBody>
      </p:sp>
      <p:sp>
        <p:nvSpPr>
          <p:cNvPr id="16" name="Shape 14"/>
          <p:cNvSpPr/>
          <p:nvPr/>
        </p:nvSpPr>
        <p:spPr>
          <a:xfrm>
            <a:off x="4709160" y="2971800"/>
            <a:ext cx="4114800" cy="1691640"/>
          </a:xfrm>
          <a:prstGeom prst="rect">
            <a:avLst/>
          </a:prstGeom>
          <a:solidFill>
            <a:srgbClr val="FFFFFF"/>
          </a:solidFill>
          <a:ln w="15240">
            <a:solidFill>
              <a:srgbClr val="D8E4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709160" y="2971800"/>
            <a:ext cx="164592" cy="1691640"/>
          </a:xfrm>
          <a:prstGeom prst="rect">
            <a:avLst/>
          </a:prstGeom>
          <a:solidFill>
            <a:srgbClr val="F4A261"/>
          </a:solidFill>
          <a:ln w="12700">
            <a:solidFill>
              <a:srgbClr val="F4A261"/>
            </a:solidFill>
            <a:prstDash val="solid"/>
          </a:ln>
        </p:spPr>
        <p:txBody>
          <a:bodyPr/>
          <a:lstStyle/>
          <a:p>
            <a:endParaRPr lang="en-US"/>
          </a:p>
        </p:txBody>
      </p:sp>
      <p:sp>
        <p:nvSpPr>
          <p:cNvPr id="18" name="Text 16"/>
          <p:cNvSpPr/>
          <p:nvPr/>
        </p:nvSpPr>
        <p:spPr>
          <a:xfrm>
            <a:off x="4965192" y="3136392"/>
            <a:ext cx="3749040" cy="384048"/>
          </a:xfrm>
          <a:prstGeom prst="rect">
            <a:avLst/>
          </a:prstGeom>
          <a:noFill/>
          <a:ln/>
        </p:spPr>
        <p:txBody>
          <a:bodyPr wrap="square" lIns="0" tIns="0" rIns="0" bIns="0"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Multi-Tier Fallback</a:t>
            </a:r>
            <a:endParaRPr lang="en-US" sz="1400" dirty="0"/>
          </a:p>
        </p:txBody>
      </p:sp>
      <p:sp>
        <p:nvSpPr>
          <p:cNvPr id="19" name="Text 17"/>
          <p:cNvSpPr/>
          <p:nvPr/>
        </p:nvSpPr>
        <p:spPr>
          <a:xfrm>
            <a:off x="4965192" y="3538728"/>
            <a:ext cx="3749040" cy="960120"/>
          </a:xfrm>
          <a:prstGeom prst="rect">
            <a:avLst/>
          </a:prstGeom>
          <a:noFill/>
          <a:ln/>
        </p:spPr>
        <p:txBody>
          <a:bodyPr wrap="square" lIns="0" tIns="0" rIns="0" bIns="0" rtlCol="0" anchor="t"/>
          <a:lstStyle/>
          <a:p>
            <a:pPr marL="0" indent="0">
              <a:buNone/>
            </a:pPr>
            <a:r>
              <a:rPr lang="en-US" sz="1150" dirty="0">
                <a:solidFill>
                  <a:srgbClr val="1E2433"/>
                </a:solidFill>
                <a:latin typeface="Calibri" pitchFamily="34" charset="0"/>
                <a:ea typeface="Calibri" pitchFamily="34" charset="-122"/>
                <a:cs typeface="Calibri" pitchFamily="34" charset="-120"/>
              </a:rPr>
              <a:t>Four extraction layers cascade from most-accurate to most-general. Something always succeeds.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Four-Tier Extraction Cascade</a:t>
            </a:r>
            <a:endParaRPr lang="en-US" sz="2600" dirty="0"/>
          </a:p>
        </p:txBody>
      </p:sp>
      <p:sp>
        <p:nvSpPr>
          <p:cNvPr id="3" name="Shape 1"/>
          <p:cNvSpPr/>
          <p:nvPr/>
        </p:nvSpPr>
        <p:spPr>
          <a:xfrm>
            <a:off x="457200" y="896112"/>
            <a:ext cx="8138160" cy="36576"/>
          </a:xfrm>
          <a:prstGeom prst="rect">
            <a:avLst/>
          </a:prstGeom>
          <a:solidFill>
            <a:srgbClr val="00C4B3"/>
          </a:solidFill>
          <a:ln w="12700">
            <a:solidFill>
              <a:srgbClr val="00C4B3"/>
            </a:solidFill>
            <a:prstDash val="solid"/>
          </a:ln>
        </p:spPr>
        <p:txBody>
          <a:bodyPr/>
          <a:lstStyle/>
          <a:p>
            <a:endParaRPr lang="en-US"/>
          </a:p>
        </p:txBody>
      </p:sp>
      <p:sp>
        <p:nvSpPr>
          <p:cNvPr id="4" name="Shape 2"/>
          <p:cNvSpPr/>
          <p:nvPr/>
        </p:nvSpPr>
        <p:spPr>
          <a:xfrm>
            <a:off x="411480" y="1051560"/>
            <a:ext cx="566928" cy="566928"/>
          </a:xfrm>
          <a:prstGeom prst="ellipse">
            <a:avLst/>
          </a:prstGeom>
          <a:solidFill>
            <a:srgbClr val="00C4B3"/>
          </a:solidFill>
          <a:ln w="12700">
            <a:solidFill>
              <a:srgbClr val="00C4B3"/>
            </a:solidFill>
            <a:prstDash val="solid"/>
          </a:ln>
        </p:spPr>
        <p:txBody>
          <a:bodyPr/>
          <a:lstStyle/>
          <a:p>
            <a:endParaRPr lang="en-US"/>
          </a:p>
        </p:txBody>
      </p:sp>
      <p:sp>
        <p:nvSpPr>
          <p:cNvPr id="5" name="Text 3"/>
          <p:cNvSpPr/>
          <p:nvPr/>
        </p:nvSpPr>
        <p:spPr>
          <a:xfrm>
            <a:off x="411480" y="1078992"/>
            <a:ext cx="566928"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1097280" y="1005840"/>
            <a:ext cx="7589520" cy="804672"/>
          </a:xfrm>
          <a:prstGeom prst="rect">
            <a:avLst/>
          </a:prstGeom>
          <a:solidFill>
            <a:srgbClr val="1A3A7C"/>
          </a:solidFill>
          <a:ln w="12700">
            <a:solidFill>
              <a:srgbClr val="1A3A7C"/>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1097280" y="1005840"/>
            <a:ext cx="109728" cy="804672"/>
          </a:xfrm>
          <a:prstGeom prst="rect">
            <a:avLst/>
          </a:prstGeom>
          <a:solidFill>
            <a:srgbClr val="00C4B3"/>
          </a:solidFill>
          <a:ln w="12700">
            <a:solidFill>
              <a:srgbClr val="00C4B3"/>
            </a:solidFill>
            <a:prstDash val="solid"/>
          </a:ln>
        </p:spPr>
        <p:txBody>
          <a:bodyPr/>
          <a:lstStyle/>
          <a:p>
            <a:endParaRPr lang="en-US"/>
          </a:p>
        </p:txBody>
      </p:sp>
      <p:sp>
        <p:nvSpPr>
          <p:cNvPr id="8" name="Text 6"/>
          <p:cNvSpPr/>
          <p:nvPr/>
        </p:nvSpPr>
        <p:spPr>
          <a:xfrm>
            <a:off x="1298448" y="1069848"/>
            <a:ext cx="72237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FL-LoRA LayoutLMv3</a:t>
            </a:r>
            <a:endParaRPr lang="en-US" sz="1300" dirty="0"/>
          </a:p>
        </p:txBody>
      </p:sp>
      <p:sp>
        <p:nvSpPr>
          <p:cNvPr id="9" name="Text 7"/>
          <p:cNvSpPr/>
          <p:nvPr/>
        </p:nvSpPr>
        <p:spPr>
          <a:xfrm>
            <a:off x="1298448" y="1408176"/>
            <a:ext cx="7223760" cy="347472"/>
          </a:xfrm>
          <a:prstGeom prst="rect">
            <a:avLst/>
          </a:prstGeom>
          <a:noFill/>
          <a:ln/>
        </p:spPr>
        <p:txBody>
          <a:bodyPr wrap="square" lIns="0" tIns="0" rIns="0" bIns="0" rtlCol="0" anchor="ctr"/>
          <a:lstStyle/>
          <a:p>
            <a:pPr marL="0" indent="0">
              <a:buNone/>
            </a:pPr>
            <a:r>
              <a:rPr lang="en-US" sz="1100" dirty="0">
                <a:solidFill>
                  <a:srgbClr val="8899AA"/>
                </a:solidFill>
                <a:latin typeface="Calibri" pitchFamily="34" charset="0"/>
                <a:ea typeface="Calibri" pitchFamily="34" charset="-122"/>
                <a:cs typeface="Calibri" pitchFamily="34" charset="-120"/>
              </a:rPr>
              <a:t>Federated fine-tuned model — most up-to-date, highest accuracy on known invoice styles</a:t>
            </a:r>
            <a:endParaRPr lang="en-US" sz="1100" dirty="0"/>
          </a:p>
        </p:txBody>
      </p:sp>
      <p:sp>
        <p:nvSpPr>
          <p:cNvPr id="10" name="Shape 8"/>
          <p:cNvSpPr/>
          <p:nvPr/>
        </p:nvSpPr>
        <p:spPr>
          <a:xfrm>
            <a:off x="411480" y="2011680"/>
            <a:ext cx="566928" cy="566928"/>
          </a:xfrm>
          <a:prstGeom prst="ellipse">
            <a:avLst/>
          </a:prstGeom>
          <a:solidFill>
            <a:srgbClr val="2E6FD8"/>
          </a:solidFill>
          <a:ln w="12700">
            <a:solidFill>
              <a:srgbClr val="2E6FD8"/>
            </a:solidFill>
            <a:prstDash val="solid"/>
          </a:ln>
        </p:spPr>
        <p:txBody>
          <a:bodyPr/>
          <a:lstStyle/>
          <a:p>
            <a:endParaRPr lang="en-US"/>
          </a:p>
        </p:txBody>
      </p:sp>
      <p:sp>
        <p:nvSpPr>
          <p:cNvPr id="11" name="Text 9"/>
          <p:cNvSpPr/>
          <p:nvPr/>
        </p:nvSpPr>
        <p:spPr>
          <a:xfrm>
            <a:off x="411480" y="2039112"/>
            <a:ext cx="566928"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Shape 10"/>
          <p:cNvSpPr/>
          <p:nvPr/>
        </p:nvSpPr>
        <p:spPr>
          <a:xfrm>
            <a:off x="1097280" y="1965960"/>
            <a:ext cx="7589520" cy="804672"/>
          </a:xfrm>
          <a:prstGeom prst="rect">
            <a:avLst/>
          </a:prstGeom>
          <a:solidFill>
            <a:srgbClr val="1A3A7C"/>
          </a:solidFill>
          <a:ln w="12700">
            <a:solidFill>
              <a:srgbClr val="1A3A7C"/>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1097280" y="1965960"/>
            <a:ext cx="109728" cy="804672"/>
          </a:xfrm>
          <a:prstGeom prst="rect">
            <a:avLst/>
          </a:prstGeom>
          <a:solidFill>
            <a:srgbClr val="2E6FD8"/>
          </a:solidFill>
          <a:ln w="12700">
            <a:solidFill>
              <a:srgbClr val="2E6FD8"/>
            </a:solidFill>
            <a:prstDash val="solid"/>
          </a:ln>
        </p:spPr>
        <p:txBody>
          <a:bodyPr/>
          <a:lstStyle/>
          <a:p>
            <a:endParaRPr lang="en-US"/>
          </a:p>
        </p:txBody>
      </p:sp>
      <p:sp>
        <p:nvSpPr>
          <p:cNvPr id="14" name="Text 12"/>
          <p:cNvSpPr/>
          <p:nvPr/>
        </p:nvSpPr>
        <p:spPr>
          <a:xfrm>
            <a:off x="1298448" y="2029968"/>
            <a:ext cx="72237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Base LayoutLMv3</a:t>
            </a:r>
            <a:endParaRPr lang="en-US" sz="1300" dirty="0"/>
          </a:p>
        </p:txBody>
      </p:sp>
      <p:sp>
        <p:nvSpPr>
          <p:cNvPr id="15" name="Text 13"/>
          <p:cNvSpPr/>
          <p:nvPr/>
        </p:nvSpPr>
        <p:spPr>
          <a:xfrm>
            <a:off x="1298448" y="2368296"/>
            <a:ext cx="7223760" cy="347472"/>
          </a:xfrm>
          <a:prstGeom prst="rect">
            <a:avLst/>
          </a:prstGeom>
          <a:noFill/>
          <a:ln/>
        </p:spPr>
        <p:txBody>
          <a:bodyPr wrap="square" lIns="0" tIns="0" rIns="0" bIns="0" rtlCol="0" anchor="ctr"/>
          <a:lstStyle/>
          <a:p>
            <a:pPr marL="0" indent="0">
              <a:buNone/>
            </a:pPr>
            <a:r>
              <a:rPr lang="en-US" sz="1100" dirty="0">
                <a:solidFill>
                  <a:srgbClr val="8899AA"/>
                </a:solidFill>
                <a:latin typeface="Calibri" pitchFamily="34" charset="0"/>
                <a:ea typeface="Calibri" pitchFamily="34" charset="-122"/>
                <a:cs typeface="Calibri" pitchFamily="34" charset="-120"/>
              </a:rPr>
              <a:t>Layout-aware named entity recognition without FL adapter — catches what Tier 1 misses on unseen layouts</a:t>
            </a:r>
            <a:endParaRPr lang="en-US" sz="1100" dirty="0"/>
          </a:p>
        </p:txBody>
      </p:sp>
      <p:sp>
        <p:nvSpPr>
          <p:cNvPr id="16" name="Shape 14"/>
          <p:cNvSpPr/>
          <p:nvPr/>
        </p:nvSpPr>
        <p:spPr>
          <a:xfrm>
            <a:off x="411480" y="2971800"/>
            <a:ext cx="566928" cy="566928"/>
          </a:xfrm>
          <a:prstGeom prst="ellipse">
            <a:avLst/>
          </a:prstGeom>
          <a:solidFill>
            <a:srgbClr val="1A3A7C"/>
          </a:solidFill>
          <a:ln w="12700">
            <a:solidFill>
              <a:srgbClr val="1A3A7C"/>
            </a:solidFill>
            <a:prstDash val="solid"/>
          </a:ln>
        </p:spPr>
        <p:txBody>
          <a:bodyPr/>
          <a:lstStyle/>
          <a:p>
            <a:endParaRPr lang="en-US"/>
          </a:p>
        </p:txBody>
      </p:sp>
      <p:sp>
        <p:nvSpPr>
          <p:cNvPr id="17" name="Text 15"/>
          <p:cNvSpPr/>
          <p:nvPr/>
        </p:nvSpPr>
        <p:spPr>
          <a:xfrm>
            <a:off x="411480" y="2999232"/>
            <a:ext cx="566928"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Shape 16"/>
          <p:cNvSpPr/>
          <p:nvPr/>
        </p:nvSpPr>
        <p:spPr>
          <a:xfrm>
            <a:off x="1097280" y="2926080"/>
            <a:ext cx="7589520" cy="804672"/>
          </a:xfrm>
          <a:prstGeom prst="rect">
            <a:avLst/>
          </a:prstGeom>
          <a:solidFill>
            <a:srgbClr val="1A3A7C"/>
          </a:solidFill>
          <a:ln w="12700">
            <a:solidFill>
              <a:srgbClr val="1A3A7C"/>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1097280" y="2926080"/>
            <a:ext cx="109728" cy="804672"/>
          </a:xfrm>
          <a:prstGeom prst="rect">
            <a:avLst/>
          </a:prstGeom>
          <a:solidFill>
            <a:srgbClr val="1A3A7C"/>
          </a:solidFill>
          <a:ln w="12700">
            <a:solidFill>
              <a:srgbClr val="1A3A7C"/>
            </a:solidFill>
            <a:prstDash val="solid"/>
          </a:ln>
        </p:spPr>
        <p:txBody>
          <a:bodyPr/>
          <a:lstStyle/>
          <a:p>
            <a:endParaRPr lang="en-US"/>
          </a:p>
        </p:txBody>
      </p:sp>
      <p:sp>
        <p:nvSpPr>
          <p:cNvPr id="20" name="Text 18"/>
          <p:cNvSpPr/>
          <p:nvPr/>
        </p:nvSpPr>
        <p:spPr>
          <a:xfrm>
            <a:off x="1298448" y="2990088"/>
            <a:ext cx="72237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Spatial PDF Parser + Regex</a:t>
            </a:r>
            <a:endParaRPr lang="en-US" sz="1300" dirty="0"/>
          </a:p>
        </p:txBody>
      </p:sp>
      <p:sp>
        <p:nvSpPr>
          <p:cNvPr id="21" name="Text 19"/>
          <p:cNvSpPr/>
          <p:nvPr/>
        </p:nvSpPr>
        <p:spPr>
          <a:xfrm>
            <a:off x="1298448" y="3328416"/>
            <a:ext cx="7223760" cy="347472"/>
          </a:xfrm>
          <a:prstGeom prst="rect">
            <a:avLst/>
          </a:prstGeom>
          <a:noFill/>
          <a:ln/>
        </p:spPr>
        <p:txBody>
          <a:bodyPr wrap="square" lIns="0" tIns="0" rIns="0" bIns="0" rtlCol="0" anchor="ctr"/>
          <a:lstStyle/>
          <a:p>
            <a:pPr marL="0" indent="0">
              <a:buNone/>
            </a:pPr>
            <a:r>
              <a:rPr lang="en-US" sz="1100" dirty="0">
                <a:solidFill>
                  <a:srgbClr val="8899AA"/>
                </a:solidFill>
                <a:latin typeface="Calibri" pitchFamily="34" charset="0"/>
                <a:ea typeface="Calibri" pitchFamily="34" charset="-122"/>
                <a:cs typeface="Calibri" pitchFamily="34" charset="-120"/>
              </a:rPr>
              <a:t>For clean digital PDFs — pdfplumber extracts text with coordinates; regex handles field patterns</a:t>
            </a:r>
            <a:endParaRPr lang="en-US" sz="1100" dirty="0"/>
          </a:p>
        </p:txBody>
      </p:sp>
      <p:sp>
        <p:nvSpPr>
          <p:cNvPr id="22" name="Shape 20"/>
          <p:cNvSpPr/>
          <p:nvPr/>
        </p:nvSpPr>
        <p:spPr>
          <a:xfrm>
            <a:off x="411480" y="3931920"/>
            <a:ext cx="566928" cy="566928"/>
          </a:xfrm>
          <a:prstGeom prst="ellipse">
            <a:avLst/>
          </a:prstGeom>
          <a:solidFill>
            <a:srgbClr val="8899AA"/>
          </a:solidFill>
          <a:ln w="12700">
            <a:solidFill>
              <a:srgbClr val="8899AA"/>
            </a:solidFill>
            <a:prstDash val="solid"/>
          </a:ln>
        </p:spPr>
        <p:txBody>
          <a:bodyPr/>
          <a:lstStyle/>
          <a:p>
            <a:endParaRPr lang="en-US"/>
          </a:p>
        </p:txBody>
      </p:sp>
      <p:sp>
        <p:nvSpPr>
          <p:cNvPr id="23" name="Text 21"/>
          <p:cNvSpPr/>
          <p:nvPr/>
        </p:nvSpPr>
        <p:spPr>
          <a:xfrm>
            <a:off x="411480" y="3959352"/>
            <a:ext cx="566928"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hape 22"/>
          <p:cNvSpPr/>
          <p:nvPr/>
        </p:nvSpPr>
        <p:spPr>
          <a:xfrm>
            <a:off x="1097280" y="3858768"/>
            <a:ext cx="7589520" cy="804672"/>
          </a:xfrm>
          <a:prstGeom prst="rect">
            <a:avLst/>
          </a:prstGeom>
          <a:solidFill>
            <a:srgbClr val="1A3A7C"/>
          </a:solidFill>
          <a:ln w="12700">
            <a:solidFill>
              <a:srgbClr val="1A3A7C"/>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1097280" y="3886200"/>
            <a:ext cx="109728" cy="804672"/>
          </a:xfrm>
          <a:prstGeom prst="rect">
            <a:avLst/>
          </a:prstGeom>
          <a:solidFill>
            <a:srgbClr val="8899AA"/>
          </a:solidFill>
          <a:ln w="12700">
            <a:solidFill>
              <a:srgbClr val="8899AA"/>
            </a:solidFill>
            <a:prstDash val="solid"/>
          </a:ln>
        </p:spPr>
        <p:txBody>
          <a:bodyPr/>
          <a:lstStyle/>
          <a:p>
            <a:endParaRPr lang="en-US"/>
          </a:p>
        </p:txBody>
      </p:sp>
      <p:sp>
        <p:nvSpPr>
          <p:cNvPr id="26" name="Text 24"/>
          <p:cNvSpPr/>
          <p:nvPr/>
        </p:nvSpPr>
        <p:spPr>
          <a:xfrm>
            <a:off x="1298448" y="3950208"/>
            <a:ext cx="72237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Tesseract + GOT-OCR 2.0</a:t>
            </a:r>
            <a:endParaRPr lang="en-US" sz="1300" dirty="0"/>
          </a:p>
        </p:txBody>
      </p:sp>
      <p:sp>
        <p:nvSpPr>
          <p:cNvPr id="27" name="Text 25"/>
          <p:cNvSpPr/>
          <p:nvPr/>
        </p:nvSpPr>
        <p:spPr>
          <a:xfrm>
            <a:off x="1298448" y="4288536"/>
            <a:ext cx="7223760" cy="347472"/>
          </a:xfrm>
          <a:prstGeom prst="rect">
            <a:avLst/>
          </a:prstGeom>
          <a:noFill/>
          <a:ln/>
        </p:spPr>
        <p:txBody>
          <a:bodyPr wrap="square" lIns="0" tIns="0" rIns="0" bIns="0" rtlCol="0" anchor="ctr"/>
          <a:lstStyle/>
          <a:p>
            <a:pPr marL="0" indent="0">
              <a:buNone/>
            </a:pPr>
            <a:r>
              <a:rPr lang="en-US" sz="1100" dirty="0">
                <a:solidFill>
                  <a:srgbClr val="8899AA"/>
                </a:solidFill>
                <a:latin typeface="Calibri" pitchFamily="34" charset="0"/>
                <a:ea typeface="Calibri" pitchFamily="34" charset="-122"/>
                <a:cs typeface="Calibri" pitchFamily="34" charset="-120"/>
              </a:rPr>
              <a:t>Universal last resort — works on any document; no layout understanding but always produces output</a:t>
            </a:r>
            <a:endParaRPr lang="en-US" sz="1100" dirty="0"/>
          </a:p>
        </p:txBody>
      </p:sp>
      <p:sp>
        <p:nvSpPr>
          <p:cNvPr id="28" name="Text 26"/>
          <p:cNvSpPr/>
          <p:nvPr/>
        </p:nvSpPr>
        <p:spPr>
          <a:xfrm>
            <a:off x="457200" y="4663440"/>
            <a:ext cx="8229600" cy="347472"/>
          </a:xfrm>
          <a:prstGeom prst="rect">
            <a:avLst/>
          </a:prstGeom>
          <a:noFill/>
          <a:ln/>
        </p:spPr>
        <p:txBody>
          <a:bodyPr wrap="square" lIns="0" tIns="0" rIns="0" bIns="0" rtlCol="0" anchor="ctr"/>
          <a:lstStyle/>
          <a:p>
            <a:pPr marL="0" indent="0" algn="ctr">
              <a:buNone/>
            </a:pPr>
            <a:r>
              <a:rPr lang="en-US" sz="1100" i="1" dirty="0">
                <a:solidFill>
                  <a:srgbClr val="00C4B3"/>
                </a:solidFill>
                <a:latin typeface="Calibri" pitchFamily="34" charset="0"/>
                <a:ea typeface="Calibri" pitchFamily="34" charset="-122"/>
                <a:cs typeface="Calibri" pitchFamily="34" charset="-120"/>
              </a:rPr>
              <a:t>Completeness check after each tier → advance only if required fields are missing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System Architecture — End-to-End Pipeline</a:t>
            </a:r>
            <a:endParaRPr lang="en-US" sz="2600" dirty="0"/>
          </a:p>
        </p:txBody>
      </p:sp>
      <p:sp>
        <p:nvSpPr>
          <p:cNvPr id="3" name="Shape 1"/>
          <p:cNvSpPr/>
          <p:nvPr/>
        </p:nvSpPr>
        <p:spPr>
          <a:xfrm>
            <a:off x="457200" y="896112"/>
            <a:ext cx="8138160" cy="36576"/>
          </a:xfrm>
          <a:prstGeom prst="rect">
            <a:avLst/>
          </a:prstGeom>
          <a:solidFill>
            <a:srgbClr val="00C4B3"/>
          </a:solidFill>
          <a:ln w="12700">
            <a:solidFill>
              <a:srgbClr val="00C4B3"/>
            </a:solidFill>
            <a:prstDash val="solid"/>
          </a:ln>
        </p:spPr>
        <p:txBody>
          <a:bodyPr/>
          <a:lstStyle/>
          <a:p>
            <a:endParaRPr lang="en-US"/>
          </a:p>
        </p:txBody>
      </p:sp>
      <p:sp>
        <p:nvSpPr>
          <p:cNvPr id="4" name="Shape 2"/>
          <p:cNvSpPr/>
          <p:nvPr/>
        </p:nvSpPr>
        <p:spPr>
          <a:xfrm>
            <a:off x="158347" y="1485900"/>
            <a:ext cx="1572768" cy="1828800"/>
          </a:xfrm>
          <a:prstGeom prst="rect">
            <a:avLst/>
          </a:prstGeom>
          <a:solidFill>
            <a:srgbClr val="1A3A7C"/>
          </a:solidFill>
          <a:ln w="12700">
            <a:solidFill>
              <a:srgbClr val="1A3A7C"/>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231499" y="1650492"/>
            <a:ext cx="1426464"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Invoice</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Upload</a:t>
            </a:r>
            <a:endParaRPr lang="en-US" sz="1250" dirty="0"/>
          </a:p>
        </p:txBody>
      </p:sp>
      <p:sp>
        <p:nvSpPr>
          <p:cNvPr id="6" name="Text 4"/>
          <p:cNvSpPr/>
          <p:nvPr/>
        </p:nvSpPr>
        <p:spPr>
          <a:xfrm>
            <a:off x="231499" y="2345436"/>
            <a:ext cx="1426464" cy="8686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PDF / Image</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Excel / CSV</a:t>
            </a:r>
            <a:endParaRPr lang="en-US" sz="1000" dirty="0"/>
          </a:p>
        </p:txBody>
      </p:sp>
      <p:sp>
        <p:nvSpPr>
          <p:cNvPr id="7" name="Shape 5"/>
          <p:cNvSpPr/>
          <p:nvPr/>
        </p:nvSpPr>
        <p:spPr>
          <a:xfrm>
            <a:off x="1758547" y="2400300"/>
            <a:ext cx="201168" cy="0"/>
          </a:xfrm>
          <a:prstGeom prst="line">
            <a:avLst/>
          </a:prstGeom>
          <a:noFill/>
          <a:ln w="31750">
            <a:solidFill>
              <a:srgbClr val="00C4B3"/>
            </a:solidFill>
            <a:prstDash val="solid"/>
          </a:ln>
        </p:spPr>
        <p:txBody>
          <a:bodyPr/>
          <a:lstStyle/>
          <a:p>
            <a:endParaRPr lang="en-US"/>
          </a:p>
        </p:txBody>
      </p:sp>
      <p:sp>
        <p:nvSpPr>
          <p:cNvPr id="8" name="Shape 6"/>
          <p:cNvSpPr/>
          <p:nvPr/>
        </p:nvSpPr>
        <p:spPr>
          <a:xfrm>
            <a:off x="1987147" y="1485900"/>
            <a:ext cx="1572768" cy="1828800"/>
          </a:xfrm>
          <a:prstGeom prst="rect">
            <a:avLst/>
          </a:prstGeom>
          <a:solidFill>
            <a:srgbClr val="2E6FD8"/>
          </a:solidFill>
          <a:ln w="1270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2060299" y="1650492"/>
            <a:ext cx="1426464"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Tiered OCR</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Extraction</a:t>
            </a:r>
            <a:endParaRPr lang="en-US" sz="1250" dirty="0"/>
          </a:p>
        </p:txBody>
      </p:sp>
      <p:sp>
        <p:nvSpPr>
          <p:cNvPr id="10" name="Text 8"/>
          <p:cNvSpPr/>
          <p:nvPr/>
        </p:nvSpPr>
        <p:spPr>
          <a:xfrm>
            <a:off x="2060299" y="2345436"/>
            <a:ext cx="1426464" cy="8686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4-level cascade</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FL→LayoutLM→Regex→Tesseract</a:t>
            </a:r>
            <a:endParaRPr lang="en-US" sz="1000" dirty="0"/>
          </a:p>
        </p:txBody>
      </p:sp>
      <p:sp>
        <p:nvSpPr>
          <p:cNvPr id="11" name="Shape 9"/>
          <p:cNvSpPr/>
          <p:nvPr/>
        </p:nvSpPr>
        <p:spPr>
          <a:xfrm>
            <a:off x="3587347" y="2400300"/>
            <a:ext cx="201168" cy="0"/>
          </a:xfrm>
          <a:prstGeom prst="line">
            <a:avLst/>
          </a:prstGeom>
          <a:noFill/>
          <a:ln w="31750">
            <a:solidFill>
              <a:srgbClr val="00C4B3"/>
            </a:solidFill>
            <a:prstDash val="solid"/>
          </a:ln>
        </p:spPr>
        <p:txBody>
          <a:bodyPr/>
          <a:lstStyle/>
          <a:p>
            <a:endParaRPr lang="en-US"/>
          </a:p>
        </p:txBody>
      </p:sp>
      <p:sp>
        <p:nvSpPr>
          <p:cNvPr id="12" name="Shape 10"/>
          <p:cNvSpPr/>
          <p:nvPr/>
        </p:nvSpPr>
        <p:spPr>
          <a:xfrm>
            <a:off x="3815947" y="1485900"/>
            <a:ext cx="1572768" cy="1828800"/>
          </a:xfrm>
          <a:prstGeom prst="rect">
            <a:avLst/>
          </a:prstGeom>
          <a:solidFill>
            <a:srgbClr val="00C4B3"/>
          </a:solidFill>
          <a:ln w="12700">
            <a:solidFill>
              <a:srgbClr val="00C4B3"/>
            </a:solidFill>
            <a:prstDash val="solid"/>
          </a:ln>
          <a:effectLst>
            <a:outerShdw blurRad="101600" dist="38100" dir="8100000" algn="bl" rotWithShape="0">
              <a:srgbClr val="000000">
                <a:alpha val="12000"/>
              </a:srgbClr>
            </a:outerShdw>
          </a:effectLst>
        </p:spPr>
        <p:txBody>
          <a:bodyPr/>
          <a:lstStyle/>
          <a:p>
            <a:endParaRPr lang="en-US"/>
          </a:p>
        </p:txBody>
      </p:sp>
      <p:sp>
        <p:nvSpPr>
          <p:cNvPr id="13" name="Text 11"/>
          <p:cNvSpPr/>
          <p:nvPr/>
        </p:nvSpPr>
        <p:spPr>
          <a:xfrm>
            <a:off x="3889099" y="1650492"/>
            <a:ext cx="1426464"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3-Way</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Matching</a:t>
            </a:r>
            <a:endParaRPr lang="en-US" sz="1250" dirty="0"/>
          </a:p>
        </p:txBody>
      </p:sp>
      <p:sp>
        <p:nvSpPr>
          <p:cNvPr id="14" name="Text 12"/>
          <p:cNvSpPr/>
          <p:nvPr/>
        </p:nvSpPr>
        <p:spPr>
          <a:xfrm>
            <a:off x="3889099" y="2345436"/>
            <a:ext cx="1426464" cy="8686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PO · </a:t>
            </a:r>
            <a:r>
              <a:rPr lang="en-US" sz="1000" dirty="0" err="1">
                <a:solidFill>
                  <a:srgbClr val="FFFFFF"/>
                </a:solidFill>
                <a:latin typeface="Calibri" pitchFamily="34" charset="0"/>
                <a:ea typeface="Calibri" pitchFamily="34" charset="-122"/>
                <a:cs typeface="Calibri" pitchFamily="34" charset="-120"/>
              </a:rPr>
              <a:t>GoodsReceipt</a:t>
            </a:r>
            <a:r>
              <a:rPr lang="en-US" sz="1000" dirty="0">
                <a:solidFill>
                  <a:srgbClr val="FFFFFF"/>
                </a:solidFill>
                <a:latin typeface="Calibri" pitchFamily="34" charset="0"/>
                <a:ea typeface="Calibri" pitchFamily="34" charset="-122"/>
                <a:cs typeface="Calibri" pitchFamily="34" charset="-120"/>
              </a:rPr>
              <a:t> · Contract</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RapidFuzz 70%</a:t>
            </a:r>
            <a:endParaRPr lang="en-US" sz="1000" dirty="0"/>
          </a:p>
        </p:txBody>
      </p:sp>
      <p:sp>
        <p:nvSpPr>
          <p:cNvPr id="15" name="Shape 13"/>
          <p:cNvSpPr/>
          <p:nvPr/>
        </p:nvSpPr>
        <p:spPr>
          <a:xfrm>
            <a:off x="5416147" y="2400300"/>
            <a:ext cx="201168" cy="0"/>
          </a:xfrm>
          <a:prstGeom prst="line">
            <a:avLst/>
          </a:prstGeom>
          <a:noFill/>
          <a:ln w="31750">
            <a:solidFill>
              <a:srgbClr val="00C4B3"/>
            </a:solidFill>
            <a:prstDash val="solid"/>
          </a:ln>
        </p:spPr>
        <p:txBody>
          <a:bodyPr/>
          <a:lstStyle/>
          <a:p>
            <a:endParaRPr lang="en-US"/>
          </a:p>
        </p:txBody>
      </p:sp>
      <p:sp>
        <p:nvSpPr>
          <p:cNvPr id="16" name="Shape 14"/>
          <p:cNvSpPr/>
          <p:nvPr/>
        </p:nvSpPr>
        <p:spPr>
          <a:xfrm>
            <a:off x="5644747" y="1485900"/>
            <a:ext cx="1572768" cy="1828800"/>
          </a:xfrm>
          <a:prstGeom prst="rect">
            <a:avLst/>
          </a:prstGeom>
          <a:solidFill>
            <a:srgbClr val="F4A261"/>
          </a:solidFill>
          <a:ln w="12700">
            <a:solidFill>
              <a:srgbClr val="F4A261"/>
            </a:solidFill>
            <a:prstDash val="solid"/>
          </a:ln>
          <a:effectLst>
            <a:outerShdw blurRad="101600" dist="38100" dir="8100000" algn="bl" rotWithShape="0">
              <a:srgbClr val="000000">
                <a:alpha val="12000"/>
              </a:srgbClr>
            </a:outerShdw>
          </a:effectLst>
        </p:spPr>
        <p:txBody>
          <a:bodyPr/>
          <a:lstStyle/>
          <a:p>
            <a:endParaRPr lang="en-US"/>
          </a:p>
        </p:txBody>
      </p:sp>
      <p:sp>
        <p:nvSpPr>
          <p:cNvPr id="17" name="Text 15"/>
          <p:cNvSpPr/>
          <p:nvPr/>
        </p:nvSpPr>
        <p:spPr>
          <a:xfrm>
            <a:off x="5717899" y="1650492"/>
            <a:ext cx="1426464"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Anomaly</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Detection</a:t>
            </a:r>
            <a:endParaRPr lang="en-US" sz="1250" dirty="0"/>
          </a:p>
        </p:txBody>
      </p:sp>
      <p:sp>
        <p:nvSpPr>
          <p:cNvPr id="18" name="Text 16"/>
          <p:cNvSpPr/>
          <p:nvPr/>
        </p:nvSpPr>
        <p:spPr>
          <a:xfrm>
            <a:off x="5717899" y="2345436"/>
            <a:ext cx="1426464" cy="8686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Rules · Isolation Forest</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InvoiceAnomalyNet</a:t>
            </a:r>
            <a:endParaRPr lang="en-US" sz="1000" dirty="0"/>
          </a:p>
        </p:txBody>
      </p:sp>
      <p:sp>
        <p:nvSpPr>
          <p:cNvPr id="19" name="Shape 17"/>
          <p:cNvSpPr/>
          <p:nvPr/>
        </p:nvSpPr>
        <p:spPr>
          <a:xfrm>
            <a:off x="7244947" y="2400300"/>
            <a:ext cx="201168" cy="0"/>
          </a:xfrm>
          <a:prstGeom prst="line">
            <a:avLst/>
          </a:prstGeom>
          <a:noFill/>
          <a:ln w="31750">
            <a:solidFill>
              <a:srgbClr val="00C4B3"/>
            </a:solidFill>
            <a:prstDash val="solid"/>
          </a:ln>
        </p:spPr>
        <p:txBody>
          <a:bodyPr/>
          <a:lstStyle/>
          <a:p>
            <a:endParaRPr lang="en-US"/>
          </a:p>
        </p:txBody>
      </p:sp>
      <p:sp>
        <p:nvSpPr>
          <p:cNvPr id="20" name="Shape 18"/>
          <p:cNvSpPr/>
          <p:nvPr/>
        </p:nvSpPr>
        <p:spPr>
          <a:xfrm>
            <a:off x="7473547" y="1485900"/>
            <a:ext cx="1572768" cy="1828800"/>
          </a:xfrm>
          <a:prstGeom prst="rect">
            <a:avLst/>
          </a:prstGeom>
          <a:solidFill>
            <a:schemeClr val="accent3">
              <a:lumMod val="75000"/>
            </a:schemeClr>
          </a:solidFill>
          <a:ln w="12700">
            <a:solidFill>
              <a:srgbClr val="0D1B3E"/>
            </a:solidFill>
            <a:prstDash val="solid"/>
          </a:ln>
          <a:effectLst>
            <a:outerShdw blurRad="101600" dist="38100" dir="8100000" algn="bl" rotWithShape="0">
              <a:srgbClr val="000000">
                <a:alpha val="12000"/>
              </a:srgbClr>
            </a:outerShdw>
          </a:effectLst>
        </p:spPr>
        <p:txBody>
          <a:bodyPr/>
          <a:lstStyle/>
          <a:p>
            <a:endParaRPr lang="en-US" dirty="0"/>
          </a:p>
        </p:txBody>
      </p:sp>
      <p:sp>
        <p:nvSpPr>
          <p:cNvPr id="21" name="Text 19"/>
          <p:cNvSpPr/>
          <p:nvPr/>
        </p:nvSpPr>
        <p:spPr>
          <a:xfrm>
            <a:off x="7546699" y="1650492"/>
            <a:ext cx="1426464"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Status &amp;</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Output</a:t>
            </a:r>
            <a:endParaRPr lang="en-US" sz="1250" dirty="0"/>
          </a:p>
        </p:txBody>
      </p:sp>
      <p:sp>
        <p:nvSpPr>
          <p:cNvPr id="22" name="Text 20"/>
          <p:cNvSpPr/>
          <p:nvPr/>
        </p:nvSpPr>
        <p:spPr>
          <a:xfrm>
            <a:off x="7546699" y="2345436"/>
            <a:ext cx="1426464" cy="8686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MATCHED / FLAGGED</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Audit Log · Dashboard</a:t>
            </a:r>
            <a:endParaRPr lang="en-US" sz="1000" dirty="0"/>
          </a:p>
        </p:txBody>
      </p:sp>
      <p:sp>
        <p:nvSpPr>
          <p:cNvPr id="23" name="Text 21"/>
          <p:cNvSpPr/>
          <p:nvPr/>
        </p:nvSpPr>
        <p:spPr>
          <a:xfrm>
            <a:off x="457200" y="3657600"/>
            <a:ext cx="8229600" cy="365760"/>
          </a:xfrm>
          <a:prstGeom prst="rect">
            <a:avLst/>
          </a:prstGeom>
          <a:noFill/>
          <a:ln/>
        </p:spPr>
        <p:txBody>
          <a:bodyPr wrap="square" lIns="0" tIns="0" rIns="0" bIns="0" rtlCol="0" anchor="ctr"/>
          <a:lstStyle/>
          <a:p>
            <a:pPr marL="0" indent="0" algn="ctr">
              <a:buNone/>
            </a:pPr>
            <a:r>
              <a:rPr lang="en-US" sz="1100" dirty="0">
                <a:solidFill>
                  <a:srgbClr val="8899AA"/>
                </a:solidFill>
                <a:latin typeface="Calibri" pitchFamily="34" charset="0"/>
                <a:ea typeface="Calibri" pitchFamily="34" charset="-122"/>
                <a:cs typeface="Calibri" pitchFamily="34" charset="-120"/>
              </a:rPr>
              <a:t>SQLite (local, privacy-safe)  ·  FastAPI backend  ·  Streamlit dashboard  ·  Docker deployment</a:t>
            </a:r>
            <a:endParaRPr lang="en-US" sz="1100" dirty="0"/>
          </a:p>
        </p:txBody>
      </p:sp>
      <p:sp>
        <p:nvSpPr>
          <p:cNvPr id="24" name="Text 22"/>
          <p:cNvSpPr/>
          <p:nvPr/>
        </p:nvSpPr>
        <p:spPr>
          <a:xfrm>
            <a:off x="457200" y="4114800"/>
            <a:ext cx="8229600" cy="502920"/>
          </a:xfrm>
          <a:prstGeom prst="rect">
            <a:avLst/>
          </a:prstGeom>
          <a:noFill/>
          <a:ln/>
        </p:spPr>
        <p:txBody>
          <a:bodyPr wrap="square" lIns="0" tIns="0" rIns="0" bIns="0" rtlCol="0" anchor="ctr"/>
          <a:lstStyle/>
          <a:p>
            <a:pPr marL="0" indent="0" algn="ctr">
              <a:buNone/>
            </a:pPr>
            <a:r>
              <a:rPr lang="en-US" sz="1100" i="1" dirty="0">
                <a:solidFill>
                  <a:srgbClr val="00C4B3"/>
                </a:solidFill>
                <a:latin typeface="Calibri" pitchFamily="34" charset="0"/>
                <a:ea typeface="Calibri" pitchFamily="34" charset="-122"/>
                <a:cs typeface="Calibri" pitchFamily="34" charset="-120"/>
              </a:rPr>
              <a:t>FL Training Loop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2600" b="1" dirty="0">
                <a:solidFill>
                  <a:srgbClr val="0D1B3E"/>
                </a:solidFill>
                <a:latin typeface="Calibri" pitchFamily="34" charset="0"/>
                <a:ea typeface="Calibri" pitchFamily="34" charset="-122"/>
                <a:cs typeface="Calibri" pitchFamily="34" charset="-120"/>
              </a:rPr>
              <a:t>Anomaly Detection — Three Layers of Defence</a:t>
            </a:r>
            <a:endParaRPr lang="en-US" sz="2600" dirty="0"/>
          </a:p>
        </p:txBody>
      </p:sp>
      <p:sp>
        <p:nvSpPr>
          <p:cNvPr id="3" name="Shape 1"/>
          <p:cNvSpPr/>
          <p:nvPr/>
        </p:nvSpPr>
        <p:spPr>
          <a:xfrm>
            <a:off x="457200" y="896112"/>
            <a:ext cx="8138160" cy="36576"/>
          </a:xfrm>
          <a:prstGeom prst="rect">
            <a:avLst/>
          </a:prstGeom>
          <a:solidFill>
            <a:srgbClr val="00C4B3"/>
          </a:solidFill>
          <a:ln w="12700">
            <a:solidFill>
              <a:srgbClr val="00C4B3"/>
            </a:solidFill>
            <a:prstDash val="solid"/>
          </a:ln>
        </p:spPr>
        <p:txBody>
          <a:bodyPr/>
          <a:lstStyle/>
          <a:p>
            <a:endParaRPr lang="en-US"/>
          </a:p>
        </p:txBody>
      </p:sp>
      <p:sp>
        <p:nvSpPr>
          <p:cNvPr id="4" name="Shape 2"/>
          <p:cNvSpPr/>
          <p:nvPr/>
        </p:nvSpPr>
        <p:spPr>
          <a:xfrm>
            <a:off x="365760" y="1005840"/>
            <a:ext cx="2743200" cy="3794760"/>
          </a:xfrm>
          <a:prstGeom prst="rect">
            <a:avLst/>
          </a:prstGeom>
          <a:solidFill>
            <a:srgbClr val="FFFFFF"/>
          </a:solidFill>
          <a:ln w="12700">
            <a:solidFill>
              <a:srgbClr val="D0DF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65760" y="1005840"/>
            <a:ext cx="2743200" cy="457200"/>
          </a:xfrm>
          <a:prstGeom prst="rect">
            <a:avLst/>
          </a:prstGeom>
          <a:solidFill>
            <a:srgbClr val="0D1B3E"/>
          </a:solidFill>
          <a:ln w="12700">
            <a:solidFill>
              <a:srgbClr val="0D1B3E"/>
            </a:solidFill>
            <a:prstDash val="solid"/>
          </a:ln>
        </p:spPr>
        <p:txBody>
          <a:bodyPr/>
          <a:lstStyle/>
          <a:p>
            <a:endParaRPr lang="en-US"/>
          </a:p>
        </p:txBody>
      </p:sp>
      <p:sp>
        <p:nvSpPr>
          <p:cNvPr id="6" name="Text 4"/>
          <p:cNvSpPr/>
          <p:nvPr/>
        </p:nvSpPr>
        <p:spPr>
          <a:xfrm>
            <a:off x="457200" y="1042416"/>
            <a:ext cx="2560320"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Layer 1 — Rules</a:t>
            </a:r>
            <a:endParaRPr lang="en-US" sz="1250" dirty="0"/>
          </a:p>
        </p:txBody>
      </p:sp>
      <p:sp>
        <p:nvSpPr>
          <p:cNvPr id="7" name="Text 5"/>
          <p:cNvSpPr/>
          <p:nvPr/>
        </p:nvSpPr>
        <p:spPr>
          <a:xfrm>
            <a:off x="457200" y="1536192"/>
            <a:ext cx="2560320" cy="3154680"/>
          </a:xfrm>
          <a:prstGeom prst="rect">
            <a:avLst/>
          </a:prstGeom>
          <a:noFill/>
          <a:ln/>
        </p:spPr>
        <p:txBody>
          <a:bodyPr wrap="square" rtlCol="0" anchor="t"/>
          <a:lstStyle/>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Duplicate invoice number</a:t>
            </a:r>
            <a:endParaRPr lang="en-US" sz="1100" dirty="0"/>
          </a:p>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Amount out of range ($1–$50k)</a:t>
            </a:r>
            <a:endParaRPr lang="en-US" sz="1100" dirty="0"/>
          </a:p>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Suspicious round number &gt;$10k</a:t>
            </a:r>
            <a:endParaRPr lang="en-US" sz="1100" dirty="0"/>
          </a:p>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Invoice predates PO date</a:t>
            </a:r>
            <a:endParaRPr lang="en-US" sz="1100" dirty="0"/>
          </a:p>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Weekend submission / Stale (&gt;90 days)</a:t>
            </a:r>
            <a:endParaRPr lang="en-US" sz="1100" dirty="0"/>
          </a:p>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Missing required field</a:t>
            </a:r>
            <a:endParaRPr lang="en-US" sz="1100" dirty="0"/>
          </a:p>
        </p:txBody>
      </p:sp>
      <p:sp>
        <p:nvSpPr>
          <p:cNvPr id="8" name="Shape 6"/>
          <p:cNvSpPr/>
          <p:nvPr/>
        </p:nvSpPr>
        <p:spPr>
          <a:xfrm>
            <a:off x="3264408" y="1005840"/>
            <a:ext cx="2743200" cy="3794760"/>
          </a:xfrm>
          <a:prstGeom prst="rect">
            <a:avLst/>
          </a:prstGeom>
          <a:solidFill>
            <a:srgbClr val="FFFFFF"/>
          </a:solidFill>
          <a:ln w="12700">
            <a:solidFill>
              <a:srgbClr val="D0DF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3264408" y="1005840"/>
            <a:ext cx="2743200" cy="457200"/>
          </a:xfrm>
          <a:prstGeom prst="rect">
            <a:avLst/>
          </a:prstGeom>
          <a:solidFill>
            <a:srgbClr val="2E6FD8"/>
          </a:solidFill>
          <a:ln w="12700">
            <a:solidFill>
              <a:srgbClr val="2E6FD8"/>
            </a:solidFill>
            <a:prstDash val="solid"/>
          </a:ln>
        </p:spPr>
        <p:txBody>
          <a:bodyPr/>
          <a:lstStyle/>
          <a:p>
            <a:endParaRPr lang="en-US"/>
          </a:p>
        </p:txBody>
      </p:sp>
      <p:sp>
        <p:nvSpPr>
          <p:cNvPr id="10" name="Text 8"/>
          <p:cNvSpPr/>
          <p:nvPr/>
        </p:nvSpPr>
        <p:spPr>
          <a:xfrm>
            <a:off x="3355848" y="1042416"/>
            <a:ext cx="2560320"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Layer 2 — Isolation Forest</a:t>
            </a:r>
            <a:endParaRPr lang="en-US" sz="1250" dirty="0"/>
          </a:p>
        </p:txBody>
      </p:sp>
      <p:sp>
        <p:nvSpPr>
          <p:cNvPr id="11" name="Text 9"/>
          <p:cNvSpPr/>
          <p:nvPr/>
        </p:nvSpPr>
        <p:spPr>
          <a:xfrm>
            <a:off x="3355848" y="1536192"/>
            <a:ext cx="2560320" cy="3154680"/>
          </a:xfrm>
          <a:prstGeom prst="rect">
            <a:avLst/>
          </a:prstGeom>
          <a:noFill/>
          <a:ln/>
        </p:spPr>
        <p:txBody>
          <a:bodyPr wrap="square" rtlCol="0" anchor="t"/>
          <a:lstStyle/>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Unsupervised ML — no fraud labels needed</a:t>
            </a:r>
            <a:endParaRPr lang="en-US" sz="1100" dirty="0"/>
          </a:p>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Features: amount, unit price, date lag</a:t>
            </a:r>
            <a:endParaRPr lang="en-US" sz="1100" dirty="0"/>
          </a:p>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Flags statistical outliers automatically</a:t>
            </a:r>
            <a:endParaRPr lang="en-US" sz="1100" dirty="0"/>
          </a:p>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10% contamination assumption</a:t>
            </a:r>
            <a:endParaRPr lang="en-US" sz="1100" dirty="0"/>
          </a:p>
        </p:txBody>
      </p:sp>
      <p:sp>
        <p:nvSpPr>
          <p:cNvPr id="12" name="Shape 10"/>
          <p:cNvSpPr/>
          <p:nvPr/>
        </p:nvSpPr>
        <p:spPr>
          <a:xfrm>
            <a:off x="6163056" y="1005840"/>
            <a:ext cx="2743200" cy="3794760"/>
          </a:xfrm>
          <a:prstGeom prst="rect">
            <a:avLst/>
          </a:prstGeom>
          <a:solidFill>
            <a:srgbClr val="FFFFFF"/>
          </a:solidFill>
          <a:ln w="12700">
            <a:solidFill>
              <a:srgbClr val="D0DF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6163056" y="1005840"/>
            <a:ext cx="2743200" cy="457200"/>
          </a:xfrm>
          <a:prstGeom prst="rect">
            <a:avLst/>
          </a:prstGeom>
          <a:solidFill>
            <a:srgbClr val="00C4B3"/>
          </a:solidFill>
          <a:ln w="12700">
            <a:solidFill>
              <a:srgbClr val="00C4B3"/>
            </a:solidFill>
            <a:prstDash val="solid"/>
          </a:ln>
        </p:spPr>
        <p:txBody>
          <a:bodyPr/>
          <a:lstStyle/>
          <a:p>
            <a:endParaRPr lang="en-US"/>
          </a:p>
        </p:txBody>
      </p:sp>
      <p:sp>
        <p:nvSpPr>
          <p:cNvPr id="14" name="Text 12"/>
          <p:cNvSpPr/>
          <p:nvPr/>
        </p:nvSpPr>
        <p:spPr>
          <a:xfrm>
            <a:off x="6254496" y="1042416"/>
            <a:ext cx="2560320"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Layer 3 — InvoiceAnomalyNet</a:t>
            </a:r>
            <a:endParaRPr lang="en-US" sz="1250" dirty="0"/>
          </a:p>
        </p:txBody>
      </p:sp>
      <p:sp>
        <p:nvSpPr>
          <p:cNvPr id="15" name="Text 13"/>
          <p:cNvSpPr/>
          <p:nvPr/>
        </p:nvSpPr>
        <p:spPr>
          <a:xfrm>
            <a:off x="6254496" y="1536192"/>
            <a:ext cx="2560320" cy="3154680"/>
          </a:xfrm>
          <a:prstGeom prst="rect">
            <a:avLst/>
          </a:prstGeom>
          <a:noFill/>
          <a:ln/>
        </p:spPr>
        <p:txBody>
          <a:bodyPr wrap="square" rtlCol="0" anchor="t"/>
          <a:lstStyle/>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Small MLP trained via federated learning</a:t>
            </a:r>
            <a:endParaRPr lang="en-US" sz="1100" dirty="0"/>
          </a:p>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7 engineered financial features</a:t>
            </a:r>
            <a:endParaRPr lang="en-US" sz="1100" dirty="0"/>
          </a:p>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Sigmoid output &gt; 0.5 → FLAGGED</a:t>
            </a:r>
            <a:endParaRPr lang="en-US" sz="1100" dirty="0"/>
          </a:p>
          <a:p>
            <a:pPr marL="342900" indent="-342900">
              <a:spcAft>
                <a:spcPts val="600"/>
              </a:spcAft>
              <a:buSzPct val="100000"/>
              <a:buChar char="•"/>
            </a:pPr>
            <a:r>
              <a:rPr lang="en-US" sz="1100" dirty="0">
                <a:solidFill>
                  <a:srgbClr val="1E2433"/>
                </a:solidFill>
                <a:latin typeface="Calibri" pitchFamily="34" charset="0"/>
                <a:ea typeface="Calibri" pitchFamily="34" charset="-122"/>
                <a:cs typeface="Calibri" pitchFamily="34" charset="-120"/>
              </a:rPr>
              <a:t>Also acts as data quality gate for FL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Federated Learning — Privacy Without Sacrificing Performance</a:t>
            </a:r>
            <a:endParaRPr lang="en-US" sz="2600" dirty="0"/>
          </a:p>
        </p:txBody>
      </p:sp>
      <p:sp>
        <p:nvSpPr>
          <p:cNvPr id="3" name="Shape 1"/>
          <p:cNvSpPr/>
          <p:nvPr/>
        </p:nvSpPr>
        <p:spPr>
          <a:xfrm>
            <a:off x="457200" y="896112"/>
            <a:ext cx="8138160" cy="36576"/>
          </a:xfrm>
          <a:prstGeom prst="rect">
            <a:avLst/>
          </a:prstGeom>
          <a:solidFill>
            <a:srgbClr val="00C4B3"/>
          </a:solidFill>
          <a:ln w="12700">
            <a:solidFill>
              <a:srgbClr val="00C4B3"/>
            </a:solidFill>
            <a:prstDash val="solid"/>
          </a:ln>
        </p:spPr>
        <p:txBody>
          <a:bodyPr/>
          <a:lstStyle/>
          <a:p>
            <a:endParaRPr lang="en-US"/>
          </a:p>
        </p:txBody>
      </p:sp>
      <p:sp>
        <p:nvSpPr>
          <p:cNvPr id="4" name="Shape 2"/>
          <p:cNvSpPr/>
          <p:nvPr/>
        </p:nvSpPr>
        <p:spPr>
          <a:xfrm>
            <a:off x="320040" y="1097280"/>
            <a:ext cx="2377440" cy="1024128"/>
          </a:xfrm>
          <a:prstGeom prst="rect">
            <a:avLst/>
          </a:prstGeom>
          <a:solidFill>
            <a:srgbClr val="1A3A7C"/>
          </a:solidFill>
          <a:ln w="1524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365760" y="1115568"/>
            <a:ext cx="2286000" cy="987552"/>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Client A</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French FACTU</a:t>
            </a:r>
            <a:endParaRPr lang="en-US" sz="1050" dirty="0"/>
          </a:p>
        </p:txBody>
      </p:sp>
      <p:sp>
        <p:nvSpPr>
          <p:cNvPr id="6" name="Shape 4"/>
          <p:cNvSpPr/>
          <p:nvPr/>
        </p:nvSpPr>
        <p:spPr>
          <a:xfrm>
            <a:off x="2697480" y="1941722"/>
            <a:ext cx="1005840" cy="248266"/>
          </a:xfrm>
          <a:prstGeom prst="line">
            <a:avLst/>
          </a:prstGeom>
          <a:noFill/>
          <a:ln w="22860">
            <a:solidFill>
              <a:srgbClr val="00C4B3"/>
            </a:solidFill>
            <a:prstDash val="solid"/>
          </a:ln>
        </p:spPr>
        <p:txBody>
          <a:bodyPr/>
          <a:lstStyle/>
          <a:p>
            <a:endParaRPr lang="en-US"/>
          </a:p>
        </p:txBody>
      </p:sp>
      <p:sp>
        <p:nvSpPr>
          <p:cNvPr id="7" name="Shape 5"/>
          <p:cNvSpPr/>
          <p:nvPr/>
        </p:nvSpPr>
        <p:spPr>
          <a:xfrm>
            <a:off x="320040" y="2304288"/>
            <a:ext cx="2377440" cy="1024128"/>
          </a:xfrm>
          <a:prstGeom prst="rect">
            <a:avLst/>
          </a:prstGeom>
          <a:solidFill>
            <a:srgbClr val="1A3A7C"/>
          </a:solidFill>
          <a:ln w="1524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365760" y="2322576"/>
            <a:ext cx="2286000" cy="987552"/>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Client B</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SROIE (EN)</a:t>
            </a:r>
            <a:endParaRPr lang="en-US" sz="1050" dirty="0"/>
          </a:p>
        </p:txBody>
      </p:sp>
      <p:sp>
        <p:nvSpPr>
          <p:cNvPr id="9" name="Shape 7"/>
          <p:cNvSpPr/>
          <p:nvPr/>
        </p:nvSpPr>
        <p:spPr>
          <a:xfrm>
            <a:off x="2697480" y="2807208"/>
            <a:ext cx="1005840" cy="0"/>
          </a:xfrm>
          <a:prstGeom prst="line">
            <a:avLst/>
          </a:prstGeom>
          <a:noFill/>
          <a:ln w="22860">
            <a:solidFill>
              <a:srgbClr val="00C4B3"/>
            </a:solidFill>
            <a:prstDash val="solid"/>
          </a:ln>
        </p:spPr>
        <p:txBody>
          <a:bodyPr/>
          <a:lstStyle/>
          <a:p>
            <a:endParaRPr lang="en-US"/>
          </a:p>
        </p:txBody>
      </p:sp>
      <p:sp>
        <p:nvSpPr>
          <p:cNvPr id="10" name="Shape 8"/>
          <p:cNvSpPr/>
          <p:nvPr/>
        </p:nvSpPr>
        <p:spPr>
          <a:xfrm>
            <a:off x="320040" y="3511296"/>
            <a:ext cx="2377440" cy="1024128"/>
          </a:xfrm>
          <a:prstGeom prst="rect">
            <a:avLst/>
          </a:prstGeom>
          <a:solidFill>
            <a:srgbClr val="1A3A7C"/>
          </a:solidFill>
          <a:ln w="1524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365760" y="3529584"/>
            <a:ext cx="2286000" cy="987552"/>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Client C</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SROIE (EN)</a:t>
            </a:r>
            <a:endParaRPr lang="en-US" sz="1050" dirty="0"/>
          </a:p>
        </p:txBody>
      </p:sp>
      <p:sp>
        <p:nvSpPr>
          <p:cNvPr id="12" name="Shape 10"/>
          <p:cNvSpPr/>
          <p:nvPr/>
        </p:nvSpPr>
        <p:spPr>
          <a:xfrm flipV="1">
            <a:off x="2697480" y="3424427"/>
            <a:ext cx="1005840" cy="204197"/>
          </a:xfrm>
          <a:prstGeom prst="line">
            <a:avLst/>
          </a:prstGeom>
          <a:noFill/>
          <a:ln w="22860">
            <a:solidFill>
              <a:srgbClr val="00C4B3"/>
            </a:solidFill>
            <a:prstDash val="solid"/>
          </a:ln>
        </p:spPr>
        <p:txBody>
          <a:bodyPr/>
          <a:lstStyle/>
          <a:p>
            <a:endParaRPr lang="en-US"/>
          </a:p>
        </p:txBody>
      </p:sp>
      <p:sp>
        <p:nvSpPr>
          <p:cNvPr id="13" name="Shape 11"/>
          <p:cNvSpPr/>
          <p:nvPr/>
        </p:nvSpPr>
        <p:spPr>
          <a:xfrm>
            <a:off x="3703320" y="2189988"/>
            <a:ext cx="2286000" cy="1234440"/>
          </a:xfrm>
          <a:prstGeom prst="rect">
            <a:avLst/>
          </a:prstGeom>
          <a:solidFill>
            <a:srgbClr val="00C4B3"/>
          </a:solidFill>
          <a:ln w="12700">
            <a:solidFill>
              <a:srgbClr val="00C4B3"/>
            </a:solidFill>
            <a:prstDash val="solid"/>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3749040" y="2243960"/>
            <a:ext cx="2194560" cy="1097280"/>
          </a:xfrm>
          <a:prstGeom prst="rect">
            <a:avLst/>
          </a:prstGeom>
          <a:noFill/>
          <a:ln/>
        </p:spPr>
        <p:txBody>
          <a:bodyPr wrap="square" rtlCol="0" anchor="ctr"/>
          <a:lstStyle/>
          <a:p>
            <a:pPr marL="0" indent="0" algn="ctr">
              <a:buNone/>
            </a:pPr>
            <a:r>
              <a:rPr lang="en-US" sz="1200" b="1" dirty="0">
                <a:solidFill>
                  <a:srgbClr val="1E2433"/>
                </a:solidFill>
                <a:latin typeface="Calibri" pitchFamily="34" charset="0"/>
                <a:ea typeface="Calibri" pitchFamily="34" charset="-122"/>
                <a:cs typeface="Calibri" pitchFamily="34" charset="-120"/>
              </a:rPr>
              <a:t>FL Server</a:t>
            </a:r>
            <a:endParaRPr lang="en-US" sz="1200" dirty="0"/>
          </a:p>
          <a:p>
            <a:pPr marL="0" indent="0" algn="ctr">
              <a:buNone/>
            </a:pPr>
            <a:r>
              <a:rPr lang="en-US" sz="1200" b="1" dirty="0">
                <a:solidFill>
                  <a:srgbClr val="1E2433"/>
                </a:solidFill>
                <a:latin typeface="Calibri" pitchFamily="34" charset="0"/>
                <a:ea typeface="Calibri" pitchFamily="34" charset="-122"/>
                <a:cs typeface="Calibri" pitchFamily="34" charset="-120"/>
              </a:rPr>
              <a:t>(FedAvg</a:t>
            </a:r>
            <a:endParaRPr lang="en-US" sz="1200" dirty="0"/>
          </a:p>
          <a:p>
            <a:pPr marL="0" indent="0" algn="ctr">
              <a:buNone/>
            </a:pPr>
            <a:r>
              <a:rPr lang="en-US" sz="1200" b="1" dirty="0">
                <a:solidFill>
                  <a:srgbClr val="1E2433"/>
                </a:solidFill>
                <a:latin typeface="Calibri" pitchFamily="34" charset="0"/>
                <a:ea typeface="Calibri" pitchFamily="34" charset="-122"/>
                <a:cs typeface="Calibri" pitchFamily="34" charset="-120"/>
              </a:rPr>
              <a:t>aggregation)</a:t>
            </a:r>
            <a:endParaRPr lang="en-US" sz="1200" dirty="0"/>
          </a:p>
        </p:txBody>
      </p:sp>
      <p:sp>
        <p:nvSpPr>
          <p:cNvPr id="15" name="Text 13"/>
          <p:cNvSpPr/>
          <p:nvPr/>
        </p:nvSpPr>
        <p:spPr>
          <a:xfrm>
            <a:off x="6355080" y="1738475"/>
            <a:ext cx="2743200" cy="347472"/>
          </a:xfrm>
          <a:prstGeom prst="rect">
            <a:avLst/>
          </a:prstGeom>
          <a:noFill/>
          <a:ln/>
        </p:spPr>
        <p:txBody>
          <a:bodyPr wrap="square" lIns="0" tIns="0" rIns="0" bIns="0" rtlCol="0" anchor="ctr"/>
          <a:lstStyle/>
          <a:p>
            <a:pPr marL="0" indent="0">
              <a:buNone/>
            </a:pPr>
            <a:r>
              <a:rPr lang="en-US" sz="1300" b="1" dirty="0">
                <a:solidFill>
                  <a:srgbClr val="00C4B3"/>
                </a:solidFill>
                <a:latin typeface="Calibri" pitchFamily="34" charset="0"/>
                <a:ea typeface="Calibri" pitchFamily="34" charset="-122"/>
                <a:cs typeface="Calibri" pitchFamily="34" charset="-120"/>
              </a:rPr>
              <a:t>How It Works</a:t>
            </a:r>
            <a:endParaRPr lang="en-US" sz="1300" dirty="0"/>
          </a:p>
        </p:txBody>
      </p:sp>
      <p:sp>
        <p:nvSpPr>
          <p:cNvPr id="16" name="Text 14"/>
          <p:cNvSpPr/>
          <p:nvPr/>
        </p:nvSpPr>
        <p:spPr>
          <a:xfrm>
            <a:off x="6263640" y="2085167"/>
            <a:ext cx="2834640" cy="2710861"/>
          </a:xfrm>
          <a:prstGeom prst="rect">
            <a:avLst/>
          </a:prstGeom>
          <a:noFill/>
          <a:ln/>
        </p:spPr>
        <p:txBody>
          <a:bodyPr wrap="square" rtlCol="0" anchor="t"/>
          <a:lstStyle/>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Server distributes current LoRA adapter to clients</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Each client trains locally for 1 epoch </a:t>
            </a:r>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Only weight deltas (1,152 KB) are returned — no raw data</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Server aggregates via weighted FedAvg → new global model</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15 rounds completed; F1 improved from 0.45 → 0.87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2200" b="1" dirty="0">
                <a:solidFill>
                  <a:srgbClr val="0D1B3E"/>
                </a:solidFill>
                <a:latin typeface="Calibri"/>
              </a:rPr>
              <a:t>Results — Federated vs. Centralized LayoutLMv3</a:t>
            </a:r>
          </a:p>
        </p:txBody>
      </p:sp>
      <p:sp>
        <p:nvSpPr>
          <p:cNvPr id="3" name="Shape 1"/>
          <p:cNvSpPr/>
          <p:nvPr/>
        </p:nvSpPr>
        <p:spPr>
          <a:xfrm>
            <a:off x="457200" y="896112"/>
            <a:ext cx="8138160" cy="36576"/>
          </a:xfrm>
          <a:prstGeom prst="rect">
            <a:avLst/>
          </a:prstGeom>
          <a:solidFill>
            <a:srgbClr val="00C4B3"/>
          </a:solidFill>
          <a:ln w="12700">
            <a:solidFill>
              <a:srgbClr val="00C4B3"/>
            </a:solidFill>
            <a:prstDash val="solid"/>
          </a:ln>
        </p:spPr>
        <p:txBody>
          <a:bodyPr/>
          <a:lstStyle/>
          <a:p>
            <a:endParaRPr lang="en-US"/>
          </a:p>
        </p:txBody>
      </p:sp>
      <p:graphicFrame>
        <p:nvGraphicFramePr>
          <p:cNvPr id="100" name="CompTable"/>
          <p:cNvGraphicFramePr>
            <a:graphicFrameLocks noGrp="1"/>
          </p:cNvGraphicFramePr>
          <p:nvPr>
            <p:extLst>
              <p:ext uri="{D42A27DB-BD31-4B8C-83A1-F6EECF244321}">
                <p14:modId xmlns:p14="http://schemas.microsoft.com/office/powerpoint/2010/main" val="4044585065"/>
              </p:ext>
            </p:extLst>
          </p:nvPr>
        </p:nvGraphicFramePr>
        <p:xfrm>
          <a:off x="368300" y="1003300"/>
          <a:ext cx="4953000" cy="3817872"/>
        </p:xfrm>
        <a:graphic>
          <a:graphicData uri="http://schemas.openxmlformats.org/drawingml/2006/table">
            <a:tbl>
              <a:tblPr firstRow="1"/>
              <a:tblGrid>
                <a:gridCol w="12446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660400">
                  <a:extLst>
                    <a:ext uri="{9D8B030D-6E8A-4147-A177-3AD203B41FA5}">
                      <a16:colId xmlns:a16="http://schemas.microsoft.com/office/drawing/2014/main" val="20003"/>
                    </a:ext>
                  </a:extLst>
                </a:gridCol>
              </a:tblGrid>
              <a:tr h="477234">
                <a:tc>
                  <a:txBody>
                    <a:bodyPr/>
                    <a:lstStyle/>
                    <a:p>
                      <a:pPr algn="l">
                        <a:buNone/>
                      </a:pPr>
                      <a:r>
                        <a:rPr lang="en-US" sz="1100" b="1" dirty="0">
                          <a:solidFill>
                            <a:srgbClr val="FFFFFF"/>
                          </a:solidFill>
                          <a:latin typeface="Calibri"/>
                        </a:rPr>
                        <a:t>Field</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0D1B3E"/>
                    </a:solidFill>
                  </a:tcPr>
                </a:tc>
                <a:tc>
                  <a:txBody>
                    <a:bodyPr/>
                    <a:lstStyle/>
                    <a:p>
                      <a:pPr algn="ctr">
                        <a:buNone/>
                      </a:pPr>
                      <a:r>
                        <a:rPr lang="en-US" sz="1100" b="1" dirty="0">
                          <a:solidFill>
                            <a:srgbClr val="FFFFFF"/>
                          </a:solidFill>
                          <a:latin typeface="Calibri"/>
                        </a:rPr>
                        <a:t>Federated (FL+LoRA)</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1A4F8A"/>
                    </a:solidFill>
                  </a:tcPr>
                </a:tc>
                <a:tc>
                  <a:txBody>
                    <a:bodyPr/>
                    <a:lstStyle/>
                    <a:p>
                      <a:pPr algn="ctr">
                        <a:buNone/>
                      </a:pPr>
                      <a:r>
                        <a:rPr lang="en-US" sz="1100" b="1" dirty="0">
                          <a:solidFill>
                            <a:srgbClr val="FFFFFF"/>
                          </a:solidFill>
                          <a:latin typeface="Calibri"/>
                        </a:rPr>
                        <a:t>Centralized (Fine-Tune)</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1A7A4A"/>
                    </a:solidFill>
                  </a:tcPr>
                </a:tc>
                <a:tc>
                  <a:txBody>
                    <a:bodyPr/>
                    <a:lstStyle/>
                    <a:p>
                      <a:pPr algn="ctr">
                        <a:buNone/>
                      </a:pPr>
                      <a:r>
                        <a:rPr lang="en-US" sz="1100" b="1" dirty="0">
                          <a:solidFill>
                            <a:srgbClr val="FFFFFF"/>
                          </a:solidFill>
                          <a:latin typeface="Calibri"/>
                        </a:rPr>
                        <a:t>Gap</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444455"/>
                    </a:solidFill>
                  </a:tcPr>
                </a:tc>
                <a:extLst>
                  <a:ext uri="{0D108BD9-81ED-4DB2-BD59-A6C34878D82A}">
                    <a16:rowId xmlns:a16="http://schemas.microsoft.com/office/drawing/2014/main" val="10000"/>
                  </a:ext>
                </a:extLst>
              </a:tr>
              <a:tr h="477234">
                <a:tc>
                  <a:txBody>
                    <a:bodyPr/>
                    <a:lstStyle/>
                    <a:p>
                      <a:pPr algn="l">
                        <a:buNone/>
                      </a:pPr>
                      <a:r>
                        <a:rPr lang="en-US" sz="1150" b="0" dirty="0">
                          <a:solidFill>
                            <a:srgbClr val="111111"/>
                          </a:solidFill>
                          <a:latin typeface="Calibri"/>
                        </a:rPr>
                        <a:t>DATE</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2F4F8"/>
                    </a:solidFill>
                  </a:tcPr>
                </a:tc>
                <a:tc>
                  <a:txBody>
                    <a:bodyPr/>
                    <a:lstStyle/>
                    <a:p>
                      <a:pPr algn="ctr">
                        <a:buNone/>
                      </a:pPr>
                      <a:r>
                        <a:rPr lang="en-US" sz="1200" b="0" dirty="0">
                          <a:solidFill>
                            <a:srgbClr val="1A4F8A"/>
                          </a:solidFill>
                          <a:latin typeface="Calibri"/>
                        </a:rPr>
                        <a:t>0.805</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2F4F8"/>
                    </a:solidFill>
                  </a:tcPr>
                </a:tc>
                <a:tc>
                  <a:txBody>
                    <a:bodyPr/>
                    <a:lstStyle/>
                    <a:p>
                      <a:pPr algn="ctr">
                        <a:buNone/>
                      </a:pPr>
                      <a:r>
                        <a:rPr lang="en-US" sz="1200" b="0" dirty="0">
                          <a:solidFill>
                            <a:srgbClr val="1A7A4A"/>
                          </a:solidFill>
                          <a:latin typeface="Calibri"/>
                        </a:rPr>
                        <a:t>0.849</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2F4F8"/>
                    </a:solidFill>
                  </a:tcPr>
                </a:tc>
                <a:tc>
                  <a:txBody>
                    <a:bodyPr/>
                    <a:lstStyle/>
                    <a:p>
                      <a:pPr algn="ctr">
                        <a:buNone/>
                      </a:pPr>
                      <a:r>
                        <a:rPr lang="en-US" sz="1150" b="0" dirty="0">
                          <a:solidFill>
                            <a:srgbClr val="BB3300"/>
                          </a:solidFill>
                          <a:latin typeface="Calibri"/>
                        </a:rPr>
                        <a:t>-5.2%</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2F4F8"/>
                    </a:solidFill>
                  </a:tcPr>
                </a:tc>
                <a:extLst>
                  <a:ext uri="{0D108BD9-81ED-4DB2-BD59-A6C34878D82A}">
                    <a16:rowId xmlns:a16="http://schemas.microsoft.com/office/drawing/2014/main" val="10001"/>
                  </a:ext>
                </a:extLst>
              </a:tr>
              <a:tr h="477234">
                <a:tc>
                  <a:txBody>
                    <a:bodyPr/>
                    <a:lstStyle/>
                    <a:p>
                      <a:pPr algn="l">
                        <a:buNone/>
                      </a:pPr>
                      <a:r>
                        <a:rPr lang="en-US" sz="1150" b="0" dirty="0">
                          <a:solidFill>
                            <a:srgbClr val="111111"/>
                          </a:solidFill>
                          <a:latin typeface="Calibri"/>
                        </a:rPr>
                        <a:t>INVOICE_NO</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FFFFF"/>
                    </a:solidFill>
                  </a:tcPr>
                </a:tc>
                <a:tc>
                  <a:txBody>
                    <a:bodyPr/>
                    <a:lstStyle/>
                    <a:p>
                      <a:pPr algn="ctr">
                        <a:buNone/>
                      </a:pPr>
                      <a:r>
                        <a:rPr lang="en-US" sz="1200" b="0" dirty="0">
                          <a:solidFill>
                            <a:srgbClr val="1A4F8A"/>
                          </a:solidFill>
                          <a:latin typeface="Calibri"/>
                        </a:rPr>
                        <a:t>0.966</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FFFFF"/>
                    </a:solidFill>
                  </a:tcPr>
                </a:tc>
                <a:tc>
                  <a:txBody>
                    <a:bodyPr/>
                    <a:lstStyle/>
                    <a:p>
                      <a:pPr algn="ctr">
                        <a:buNone/>
                      </a:pPr>
                      <a:r>
                        <a:rPr lang="en-US" sz="1200" b="0" dirty="0">
                          <a:solidFill>
                            <a:srgbClr val="1A7A4A"/>
                          </a:solidFill>
                          <a:latin typeface="Calibri"/>
                        </a:rPr>
                        <a:t>0.999</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FFFFF"/>
                    </a:solidFill>
                  </a:tcPr>
                </a:tc>
                <a:tc>
                  <a:txBody>
                    <a:bodyPr/>
                    <a:lstStyle/>
                    <a:p>
                      <a:pPr algn="ctr">
                        <a:buNone/>
                      </a:pPr>
                      <a:r>
                        <a:rPr lang="en-US" sz="1150" b="0" dirty="0">
                          <a:solidFill>
                            <a:srgbClr val="BB3300"/>
                          </a:solidFill>
                          <a:latin typeface="Calibri"/>
                        </a:rPr>
                        <a:t>-3.3%</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FFFFF"/>
                    </a:solidFill>
                  </a:tcPr>
                </a:tc>
                <a:extLst>
                  <a:ext uri="{0D108BD9-81ED-4DB2-BD59-A6C34878D82A}">
                    <a16:rowId xmlns:a16="http://schemas.microsoft.com/office/drawing/2014/main" val="10002"/>
                  </a:ext>
                </a:extLst>
              </a:tr>
              <a:tr h="477234">
                <a:tc>
                  <a:txBody>
                    <a:bodyPr/>
                    <a:lstStyle/>
                    <a:p>
                      <a:pPr algn="l">
                        <a:buNone/>
                      </a:pPr>
                      <a:r>
                        <a:rPr lang="en-US" sz="1150" b="0" dirty="0">
                          <a:solidFill>
                            <a:srgbClr val="111111"/>
                          </a:solidFill>
                          <a:latin typeface="Calibri"/>
                        </a:rPr>
                        <a:t>PO_NO</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2F4F8"/>
                    </a:solidFill>
                  </a:tcPr>
                </a:tc>
                <a:tc>
                  <a:txBody>
                    <a:bodyPr/>
                    <a:lstStyle/>
                    <a:p>
                      <a:pPr algn="ctr">
                        <a:buNone/>
                      </a:pPr>
                      <a:r>
                        <a:rPr lang="en-US" sz="1200" b="0" dirty="0">
                          <a:solidFill>
                            <a:srgbClr val="1A4F8A"/>
                          </a:solidFill>
                          <a:latin typeface="Calibri"/>
                        </a:rPr>
                        <a:t>0.951</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2F4F8"/>
                    </a:solidFill>
                  </a:tcPr>
                </a:tc>
                <a:tc>
                  <a:txBody>
                    <a:bodyPr/>
                    <a:lstStyle/>
                    <a:p>
                      <a:pPr algn="ctr">
                        <a:buNone/>
                      </a:pPr>
                      <a:r>
                        <a:rPr lang="en-US" sz="1200" b="0" dirty="0">
                          <a:solidFill>
                            <a:srgbClr val="1A7A4A"/>
                          </a:solidFill>
                          <a:latin typeface="Calibri"/>
                        </a:rPr>
                        <a:t>1.000</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2F4F8"/>
                    </a:solidFill>
                  </a:tcPr>
                </a:tc>
                <a:tc>
                  <a:txBody>
                    <a:bodyPr/>
                    <a:lstStyle/>
                    <a:p>
                      <a:pPr algn="ctr">
                        <a:buNone/>
                      </a:pPr>
                      <a:r>
                        <a:rPr lang="en-US" sz="1150" b="0" dirty="0">
                          <a:solidFill>
                            <a:srgbClr val="BB3300"/>
                          </a:solidFill>
                          <a:latin typeface="Calibri"/>
                        </a:rPr>
                        <a:t>-4.9%</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2F4F8"/>
                    </a:solidFill>
                  </a:tcPr>
                </a:tc>
                <a:extLst>
                  <a:ext uri="{0D108BD9-81ED-4DB2-BD59-A6C34878D82A}">
                    <a16:rowId xmlns:a16="http://schemas.microsoft.com/office/drawing/2014/main" val="10003"/>
                  </a:ext>
                </a:extLst>
              </a:tr>
              <a:tr h="477234">
                <a:tc>
                  <a:txBody>
                    <a:bodyPr/>
                    <a:lstStyle/>
                    <a:p>
                      <a:pPr algn="l">
                        <a:buNone/>
                      </a:pPr>
                      <a:r>
                        <a:rPr lang="en-US" sz="1150" b="0" dirty="0">
                          <a:solidFill>
                            <a:srgbClr val="111111"/>
                          </a:solidFill>
                          <a:latin typeface="Calibri"/>
                        </a:rPr>
                        <a:t>SUBTOTAL</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FFFFF"/>
                    </a:solidFill>
                  </a:tcPr>
                </a:tc>
                <a:tc>
                  <a:txBody>
                    <a:bodyPr/>
                    <a:lstStyle/>
                    <a:p>
                      <a:pPr algn="ctr">
                        <a:buNone/>
                      </a:pPr>
                      <a:r>
                        <a:rPr lang="en-US" sz="1200" b="0" dirty="0">
                          <a:solidFill>
                            <a:srgbClr val="1A4F8A"/>
                          </a:solidFill>
                          <a:latin typeface="Calibri"/>
                        </a:rPr>
                        <a:t>0.927</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FFFFF"/>
                    </a:solidFill>
                  </a:tcPr>
                </a:tc>
                <a:tc>
                  <a:txBody>
                    <a:bodyPr/>
                    <a:lstStyle/>
                    <a:p>
                      <a:pPr algn="ctr">
                        <a:buNone/>
                      </a:pPr>
                      <a:r>
                        <a:rPr lang="en-US" sz="1200" b="0" dirty="0">
                          <a:solidFill>
                            <a:srgbClr val="1A7A4A"/>
                          </a:solidFill>
                          <a:latin typeface="Calibri"/>
                        </a:rPr>
                        <a:t>0.970</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FFFFF"/>
                    </a:solidFill>
                  </a:tcPr>
                </a:tc>
                <a:tc>
                  <a:txBody>
                    <a:bodyPr/>
                    <a:lstStyle/>
                    <a:p>
                      <a:pPr algn="ctr">
                        <a:buNone/>
                      </a:pPr>
                      <a:r>
                        <a:rPr lang="en-US" sz="1150" b="0" dirty="0">
                          <a:solidFill>
                            <a:srgbClr val="BB3300"/>
                          </a:solidFill>
                          <a:latin typeface="Calibri"/>
                        </a:rPr>
                        <a:t>-4.4%</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FFFFF"/>
                    </a:solidFill>
                  </a:tcPr>
                </a:tc>
                <a:extLst>
                  <a:ext uri="{0D108BD9-81ED-4DB2-BD59-A6C34878D82A}">
                    <a16:rowId xmlns:a16="http://schemas.microsoft.com/office/drawing/2014/main" val="10004"/>
                  </a:ext>
                </a:extLst>
              </a:tr>
              <a:tr h="477234">
                <a:tc>
                  <a:txBody>
                    <a:bodyPr/>
                    <a:lstStyle/>
                    <a:p>
                      <a:pPr algn="l">
                        <a:buNone/>
                      </a:pPr>
                      <a:r>
                        <a:rPr lang="en-US" sz="1150" b="0" dirty="0">
                          <a:solidFill>
                            <a:srgbClr val="111111"/>
                          </a:solidFill>
                          <a:latin typeface="Calibri"/>
                        </a:rPr>
                        <a:t>TOTAL</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2F4F8"/>
                    </a:solidFill>
                  </a:tcPr>
                </a:tc>
                <a:tc>
                  <a:txBody>
                    <a:bodyPr/>
                    <a:lstStyle/>
                    <a:p>
                      <a:pPr algn="ctr">
                        <a:buNone/>
                      </a:pPr>
                      <a:r>
                        <a:rPr lang="en-US" sz="1200" b="0" dirty="0">
                          <a:solidFill>
                            <a:srgbClr val="1A4F8A"/>
                          </a:solidFill>
                          <a:latin typeface="Calibri"/>
                        </a:rPr>
                        <a:t>0.836</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2F4F8"/>
                    </a:solidFill>
                  </a:tcPr>
                </a:tc>
                <a:tc>
                  <a:txBody>
                    <a:bodyPr/>
                    <a:lstStyle/>
                    <a:p>
                      <a:pPr algn="ctr">
                        <a:buNone/>
                      </a:pPr>
                      <a:r>
                        <a:rPr lang="en-US" sz="1200" b="0" dirty="0">
                          <a:solidFill>
                            <a:srgbClr val="1A7A4A"/>
                          </a:solidFill>
                          <a:latin typeface="Calibri"/>
                        </a:rPr>
                        <a:t>0.896</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2F4F8"/>
                    </a:solidFill>
                  </a:tcPr>
                </a:tc>
                <a:tc>
                  <a:txBody>
                    <a:bodyPr/>
                    <a:lstStyle/>
                    <a:p>
                      <a:pPr algn="ctr">
                        <a:buNone/>
                      </a:pPr>
                      <a:r>
                        <a:rPr lang="en-US" sz="1150" b="0" dirty="0">
                          <a:solidFill>
                            <a:srgbClr val="BB3300"/>
                          </a:solidFill>
                          <a:latin typeface="Calibri"/>
                        </a:rPr>
                        <a:t>-6.7%</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2F4F8"/>
                    </a:solidFill>
                  </a:tcPr>
                </a:tc>
                <a:extLst>
                  <a:ext uri="{0D108BD9-81ED-4DB2-BD59-A6C34878D82A}">
                    <a16:rowId xmlns:a16="http://schemas.microsoft.com/office/drawing/2014/main" val="10005"/>
                  </a:ext>
                </a:extLst>
              </a:tr>
              <a:tr h="477234">
                <a:tc>
                  <a:txBody>
                    <a:bodyPr/>
                    <a:lstStyle/>
                    <a:p>
                      <a:pPr algn="l">
                        <a:buNone/>
                      </a:pPr>
                      <a:r>
                        <a:rPr lang="en-US" sz="1150" b="0" dirty="0">
                          <a:solidFill>
                            <a:srgbClr val="111111"/>
                          </a:solidFill>
                          <a:latin typeface="Calibri"/>
                        </a:rPr>
                        <a:t>VENDOR</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FFFFF"/>
                    </a:solidFill>
                  </a:tcPr>
                </a:tc>
                <a:tc>
                  <a:txBody>
                    <a:bodyPr/>
                    <a:lstStyle/>
                    <a:p>
                      <a:pPr algn="ctr">
                        <a:buNone/>
                      </a:pPr>
                      <a:r>
                        <a:rPr lang="en-US" sz="1200" b="0" dirty="0">
                          <a:solidFill>
                            <a:srgbClr val="1A4F8A"/>
                          </a:solidFill>
                          <a:latin typeface="Calibri"/>
                        </a:rPr>
                        <a:t>0.921</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FFFFF"/>
                    </a:solidFill>
                  </a:tcPr>
                </a:tc>
                <a:tc>
                  <a:txBody>
                    <a:bodyPr/>
                    <a:lstStyle/>
                    <a:p>
                      <a:pPr algn="ctr">
                        <a:buNone/>
                      </a:pPr>
                      <a:r>
                        <a:rPr lang="en-US" sz="1200" b="0" dirty="0">
                          <a:solidFill>
                            <a:srgbClr val="1A7A4A"/>
                          </a:solidFill>
                          <a:latin typeface="Calibri"/>
                        </a:rPr>
                        <a:t>0.986</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FFFFF"/>
                    </a:solidFill>
                  </a:tcPr>
                </a:tc>
                <a:tc>
                  <a:txBody>
                    <a:bodyPr/>
                    <a:lstStyle/>
                    <a:p>
                      <a:pPr algn="ctr">
                        <a:buNone/>
                      </a:pPr>
                      <a:r>
                        <a:rPr lang="en-US" sz="1150" b="0" dirty="0">
                          <a:solidFill>
                            <a:srgbClr val="BB3300"/>
                          </a:solidFill>
                          <a:latin typeface="Calibri"/>
                        </a:rPr>
                        <a:t>-6.6%</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FFFFF"/>
                    </a:solidFill>
                  </a:tcPr>
                </a:tc>
                <a:extLst>
                  <a:ext uri="{0D108BD9-81ED-4DB2-BD59-A6C34878D82A}">
                    <a16:rowId xmlns:a16="http://schemas.microsoft.com/office/drawing/2014/main" val="10006"/>
                  </a:ext>
                </a:extLst>
              </a:tr>
              <a:tr h="477234">
                <a:tc>
                  <a:txBody>
                    <a:bodyPr/>
                    <a:lstStyle/>
                    <a:p>
                      <a:pPr algn="l">
                        <a:buNone/>
                      </a:pPr>
                      <a:r>
                        <a:rPr lang="en-US" sz="1200" b="1" dirty="0">
                          <a:solidFill>
                            <a:srgbClr val="0D1B3E"/>
                          </a:solidFill>
                          <a:latin typeface="Calibri"/>
                        </a:rPr>
                        <a:t>Final Accuracy</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E8EEF7"/>
                    </a:solidFill>
                  </a:tcPr>
                </a:tc>
                <a:tc>
                  <a:txBody>
                    <a:bodyPr/>
                    <a:lstStyle/>
                    <a:p>
                      <a:pPr algn="ctr">
                        <a:buNone/>
                      </a:pPr>
                      <a:r>
                        <a:rPr lang="en-US" sz="1300" b="0" dirty="0">
                          <a:solidFill>
                            <a:srgbClr val="1A4F8A"/>
                          </a:solidFill>
                          <a:latin typeface="Calibri"/>
                        </a:rPr>
                        <a:t>0.879</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D6E4F5"/>
                    </a:solidFill>
                  </a:tcPr>
                </a:tc>
                <a:tc>
                  <a:txBody>
                    <a:bodyPr/>
                    <a:lstStyle/>
                    <a:p>
                      <a:pPr algn="ctr">
                        <a:buNone/>
                      </a:pPr>
                      <a:r>
                        <a:rPr lang="en-US" sz="1300" b="0" dirty="0">
                          <a:solidFill>
                            <a:srgbClr val="1A7A4A"/>
                          </a:solidFill>
                          <a:latin typeface="Calibri"/>
                        </a:rPr>
                        <a:t>0.929</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D4EDE1"/>
                    </a:solidFill>
                  </a:tcPr>
                </a:tc>
                <a:tc>
                  <a:txBody>
                    <a:bodyPr/>
                    <a:lstStyle/>
                    <a:p>
                      <a:pPr algn="ctr">
                        <a:buNone/>
                      </a:pPr>
                      <a:r>
                        <a:rPr lang="en-US" sz="1150" b="0" dirty="0">
                          <a:solidFill>
                            <a:srgbClr val="BB3300"/>
                          </a:solidFill>
                          <a:latin typeface="Calibri"/>
                        </a:rPr>
                        <a:t>-5.4%</a:t>
                      </a:r>
                    </a:p>
                  </a:txBody>
                  <a:tcPr marL="36576" marR="36576" marT="12192" marB="12192">
                    <a:lnL w="6350">
                      <a:solidFill>
                        <a:srgbClr val="D0D5DF"/>
                      </a:solidFill>
                    </a:lnL>
                    <a:lnR w="6350">
                      <a:solidFill>
                        <a:srgbClr val="D0D5DF"/>
                      </a:solidFill>
                    </a:lnR>
                    <a:lnT w="6350">
                      <a:solidFill>
                        <a:srgbClr val="D0D5DF"/>
                      </a:solidFill>
                    </a:lnT>
                    <a:lnB w="6350">
                      <a:solidFill>
                        <a:srgbClr val="D0D5DF"/>
                      </a:solidFill>
                    </a:lnB>
                    <a:solidFill>
                      <a:srgbClr val="FCEEE4"/>
                    </a:solidFill>
                  </a:tcPr>
                </a:tc>
                <a:extLst>
                  <a:ext uri="{0D108BD9-81ED-4DB2-BD59-A6C34878D82A}">
                    <a16:rowId xmlns:a16="http://schemas.microsoft.com/office/drawing/2014/main" val="10007"/>
                  </a:ext>
                </a:extLst>
              </a:tr>
            </a:tbl>
          </a:graphicData>
        </a:graphic>
      </p:graphicFrame>
      <p:graphicFrame>
        <p:nvGraphicFramePr>
          <p:cNvPr id="101" name="CompChart"/>
          <p:cNvGraphicFramePr/>
          <p:nvPr>
            <p:extLst>
              <p:ext uri="{D42A27DB-BD31-4B8C-83A1-F6EECF244321}">
                <p14:modId xmlns:p14="http://schemas.microsoft.com/office/powerpoint/2010/main" val="541899567"/>
              </p:ext>
            </p:extLst>
          </p:nvPr>
        </p:nvGraphicFramePr>
        <p:xfrm>
          <a:off x="5460999" y="1003300"/>
          <a:ext cx="3538035" cy="38178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70946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Dashboard — What the User Sees</a:t>
            </a:r>
            <a:endParaRPr lang="en-US" sz="2600" dirty="0"/>
          </a:p>
        </p:txBody>
      </p:sp>
      <p:sp>
        <p:nvSpPr>
          <p:cNvPr id="3" name="Shape 1"/>
          <p:cNvSpPr/>
          <p:nvPr/>
        </p:nvSpPr>
        <p:spPr>
          <a:xfrm>
            <a:off x="457200" y="896112"/>
            <a:ext cx="8138160" cy="36576"/>
          </a:xfrm>
          <a:prstGeom prst="rect">
            <a:avLst/>
          </a:prstGeom>
          <a:solidFill>
            <a:srgbClr val="00C4B3"/>
          </a:solidFill>
          <a:ln w="12700">
            <a:solidFill>
              <a:srgbClr val="00C4B3"/>
            </a:solidFill>
            <a:prstDash val="solid"/>
          </a:ln>
        </p:spPr>
        <p:txBody>
          <a:bodyPr/>
          <a:lstStyle/>
          <a:p>
            <a:endParaRPr lang="en-US"/>
          </a:p>
        </p:txBody>
      </p:sp>
      <p:sp>
        <p:nvSpPr>
          <p:cNvPr id="4" name="Shape 2"/>
          <p:cNvSpPr/>
          <p:nvPr/>
        </p:nvSpPr>
        <p:spPr>
          <a:xfrm>
            <a:off x="365760" y="1005840"/>
            <a:ext cx="4114800" cy="1170432"/>
          </a:xfrm>
          <a:prstGeom prst="rect">
            <a:avLst/>
          </a:prstGeom>
          <a:solidFill>
            <a:srgbClr val="1A3A7C"/>
          </a:solidFill>
          <a:ln w="1016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502920" y="1097280"/>
            <a:ext cx="3840480" cy="34747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Upload &amp; Process</a:t>
            </a:r>
            <a:endParaRPr lang="en-US" sz="1250" dirty="0"/>
          </a:p>
        </p:txBody>
      </p:sp>
      <p:sp>
        <p:nvSpPr>
          <p:cNvPr id="6" name="Text 4"/>
          <p:cNvSpPr/>
          <p:nvPr/>
        </p:nvSpPr>
        <p:spPr>
          <a:xfrm>
            <a:off x="502920" y="1463040"/>
            <a:ext cx="3840480" cy="640080"/>
          </a:xfrm>
          <a:prstGeom prst="rect">
            <a:avLst/>
          </a:prstGeom>
          <a:noFill/>
          <a:ln/>
        </p:spPr>
        <p:txBody>
          <a:bodyPr wrap="square" lIns="0" tIns="0" rIns="0" bIns="0" rtlCol="0" anchor="t"/>
          <a:lstStyle/>
          <a:p>
            <a:pPr marL="0" indent="0">
              <a:buNone/>
            </a:pPr>
            <a:r>
              <a:rPr lang="en-US" sz="1100" dirty="0">
                <a:solidFill>
                  <a:srgbClr val="8899AA"/>
                </a:solidFill>
                <a:latin typeface="Calibri" pitchFamily="34" charset="0"/>
                <a:ea typeface="Calibri" pitchFamily="34" charset="-122"/>
                <a:cs typeface="Calibri" pitchFamily="34" charset="-120"/>
              </a:rPr>
              <a:t>Drag-and-drop invoice → instant extraction + anomaly flags + match status</a:t>
            </a:r>
            <a:endParaRPr lang="en-US" sz="1100" dirty="0"/>
          </a:p>
        </p:txBody>
      </p:sp>
      <p:sp>
        <p:nvSpPr>
          <p:cNvPr id="7" name="Shape 5"/>
          <p:cNvSpPr/>
          <p:nvPr/>
        </p:nvSpPr>
        <p:spPr>
          <a:xfrm>
            <a:off x="4663440" y="1005840"/>
            <a:ext cx="4114800" cy="1170432"/>
          </a:xfrm>
          <a:prstGeom prst="rect">
            <a:avLst/>
          </a:prstGeom>
          <a:solidFill>
            <a:srgbClr val="1A3A7C"/>
          </a:solidFill>
          <a:ln w="1016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4800600" y="1097280"/>
            <a:ext cx="3840480" cy="34747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Dashboard Overview</a:t>
            </a:r>
            <a:endParaRPr lang="en-US" sz="1250" dirty="0"/>
          </a:p>
        </p:txBody>
      </p:sp>
      <p:sp>
        <p:nvSpPr>
          <p:cNvPr id="9" name="Text 7"/>
          <p:cNvSpPr/>
          <p:nvPr/>
        </p:nvSpPr>
        <p:spPr>
          <a:xfrm>
            <a:off x="4800600" y="1463040"/>
            <a:ext cx="3840480" cy="640080"/>
          </a:xfrm>
          <a:prstGeom prst="rect">
            <a:avLst/>
          </a:prstGeom>
          <a:noFill/>
          <a:ln/>
        </p:spPr>
        <p:txBody>
          <a:bodyPr wrap="square" lIns="0" tIns="0" rIns="0" bIns="0" rtlCol="0" anchor="t"/>
          <a:lstStyle/>
          <a:p>
            <a:pPr marL="0" indent="0">
              <a:buNone/>
            </a:pPr>
            <a:r>
              <a:rPr lang="en-US" sz="1100" dirty="0">
                <a:solidFill>
                  <a:srgbClr val="8899AA"/>
                </a:solidFill>
                <a:latin typeface="Calibri" pitchFamily="34" charset="0"/>
                <a:ea typeface="Calibri" pitchFamily="34" charset="-122"/>
                <a:cs typeface="Calibri" pitchFamily="34" charset="-120"/>
              </a:rPr>
              <a:t>KPI cards: total processed, match rate, anomaly rate, pending reviews + status pie chart</a:t>
            </a:r>
            <a:endParaRPr lang="en-US" sz="1100" dirty="0"/>
          </a:p>
        </p:txBody>
      </p:sp>
      <p:sp>
        <p:nvSpPr>
          <p:cNvPr id="10" name="Shape 8"/>
          <p:cNvSpPr/>
          <p:nvPr/>
        </p:nvSpPr>
        <p:spPr>
          <a:xfrm>
            <a:off x="365760" y="2331720"/>
            <a:ext cx="4114800" cy="1170432"/>
          </a:xfrm>
          <a:prstGeom prst="rect">
            <a:avLst/>
          </a:prstGeom>
          <a:solidFill>
            <a:srgbClr val="1A3A7C"/>
          </a:solidFill>
          <a:ln w="1016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502920" y="2423160"/>
            <a:ext cx="3840480" cy="34747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Human Review Queue</a:t>
            </a:r>
            <a:endParaRPr lang="en-US" sz="1250" dirty="0"/>
          </a:p>
        </p:txBody>
      </p:sp>
      <p:sp>
        <p:nvSpPr>
          <p:cNvPr id="12" name="Text 10"/>
          <p:cNvSpPr/>
          <p:nvPr/>
        </p:nvSpPr>
        <p:spPr>
          <a:xfrm>
            <a:off x="502920" y="2788920"/>
            <a:ext cx="3840480" cy="640080"/>
          </a:xfrm>
          <a:prstGeom prst="rect">
            <a:avLst/>
          </a:prstGeom>
          <a:noFill/>
          <a:ln/>
        </p:spPr>
        <p:txBody>
          <a:bodyPr wrap="square" lIns="0" tIns="0" rIns="0" bIns="0" rtlCol="0" anchor="t"/>
          <a:lstStyle/>
          <a:p>
            <a:pPr marL="0" indent="0">
              <a:buNone/>
            </a:pPr>
            <a:r>
              <a:rPr lang="en-US" sz="1100" dirty="0">
                <a:solidFill>
                  <a:srgbClr val="8899AA"/>
                </a:solidFill>
                <a:latin typeface="Calibri" pitchFamily="34" charset="0"/>
                <a:ea typeface="Calibri" pitchFamily="34" charset="-122"/>
                <a:cs typeface="Calibri" pitchFamily="34" charset="-120"/>
              </a:rPr>
              <a:t>Inline field editing; approve or reject flagged invoices with one click</a:t>
            </a:r>
            <a:endParaRPr lang="en-US" sz="1100" dirty="0"/>
          </a:p>
        </p:txBody>
      </p:sp>
      <p:sp>
        <p:nvSpPr>
          <p:cNvPr id="13" name="Shape 11"/>
          <p:cNvSpPr/>
          <p:nvPr/>
        </p:nvSpPr>
        <p:spPr>
          <a:xfrm>
            <a:off x="4663440" y="2331720"/>
            <a:ext cx="4114800" cy="1170432"/>
          </a:xfrm>
          <a:prstGeom prst="rect">
            <a:avLst/>
          </a:prstGeom>
          <a:solidFill>
            <a:srgbClr val="1A3A7C"/>
          </a:solidFill>
          <a:ln w="1016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4800600" y="2423160"/>
            <a:ext cx="3840480" cy="34747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Audit Log</a:t>
            </a:r>
            <a:endParaRPr lang="en-US" sz="1250" dirty="0"/>
          </a:p>
        </p:txBody>
      </p:sp>
      <p:sp>
        <p:nvSpPr>
          <p:cNvPr id="15" name="Text 13"/>
          <p:cNvSpPr/>
          <p:nvPr/>
        </p:nvSpPr>
        <p:spPr>
          <a:xfrm>
            <a:off x="4800600" y="2788920"/>
            <a:ext cx="3840480" cy="640080"/>
          </a:xfrm>
          <a:prstGeom prst="rect">
            <a:avLst/>
          </a:prstGeom>
          <a:noFill/>
          <a:ln/>
        </p:spPr>
        <p:txBody>
          <a:bodyPr wrap="square" lIns="0" tIns="0" rIns="0" bIns="0" rtlCol="0" anchor="t"/>
          <a:lstStyle/>
          <a:p>
            <a:pPr marL="0" indent="0">
              <a:buNone/>
            </a:pPr>
            <a:r>
              <a:rPr lang="en-US" sz="1100" dirty="0">
                <a:solidFill>
                  <a:srgbClr val="8899AA"/>
                </a:solidFill>
                <a:latin typeface="Calibri" pitchFamily="34" charset="0"/>
                <a:ea typeface="Calibri" pitchFamily="34" charset="-122"/>
                <a:cs typeface="Calibri" pitchFamily="34" charset="-120"/>
              </a:rPr>
              <a:t>Complete chronological action history, exportable to CSV</a:t>
            </a:r>
            <a:endParaRPr lang="en-US" sz="1100" dirty="0"/>
          </a:p>
        </p:txBody>
      </p:sp>
      <p:sp>
        <p:nvSpPr>
          <p:cNvPr id="16" name="Shape 14"/>
          <p:cNvSpPr/>
          <p:nvPr/>
        </p:nvSpPr>
        <p:spPr>
          <a:xfrm>
            <a:off x="365760" y="3657600"/>
            <a:ext cx="4114800" cy="1170432"/>
          </a:xfrm>
          <a:prstGeom prst="rect">
            <a:avLst/>
          </a:prstGeom>
          <a:solidFill>
            <a:srgbClr val="1A3A7C"/>
          </a:solidFill>
          <a:ln w="1016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17" name="Text 15"/>
          <p:cNvSpPr/>
          <p:nvPr/>
        </p:nvSpPr>
        <p:spPr>
          <a:xfrm>
            <a:off x="502920" y="3749040"/>
            <a:ext cx="3840480" cy="34747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FL Training Monitor</a:t>
            </a:r>
            <a:endParaRPr lang="en-US" sz="1250" dirty="0"/>
          </a:p>
        </p:txBody>
      </p:sp>
      <p:sp>
        <p:nvSpPr>
          <p:cNvPr id="18" name="Text 16"/>
          <p:cNvSpPr/>
          <p:nvPr/>
        </p:nvSpPr>
        <p:spPr>
          <a:xfrm>
            <a:off x="502920" y="4114800"/>
            <a:ext cx="3840480" cy="640080"/>
          </a:xfrm>
          <a:prstGeom prst="rect">
            <a:avLst/>
          </a:prstGeom>
          <a:noFill/>
          <a:ln/>
        </p:spPr>
        <p:txBody>
          <a:bodyPr wrap="square" lIns="0" tIns="0" rIns="0" bIns="0" rtlCol="0" anchor="t"/>
          <a:lstStyle/>
          <a:p>
            <a:pPr marL="0" indent="0">
              <a:buNone/>
            </a:pPr>
            <a:r>
              <a:rPr lang="en-US" sz="1100" dirty="0">
                <a:solidFill>
                  <a:srgbClr val="8899AA"/>
                </a:solidFill>
                <a:latin typeface="Calibri" pitchFamily="34" charset="0"/>
                <a:ea typeface="Calibri" pitchFamily="34" charset="-122"/>
                <a:cs typeface="Calibri" pitchFamily="34" charset="-120"/>
              </a:rPr>
              <a:t>Real-time per-round metrics streamed via SSE: loss, macro-F1, privacy budget ε</a:t>
            </a:r>
            <a:endParaRPr lang="en-US" sz="1100" dirty="0"/>
          </a:p>
        </p:txBody>
      </p:sp>
      <p:sp>
        <p:nvSpPr>
          <p:cNvPr id="19" name="Shape 17"/>
          <p:cNvSpPr/>
          <p:nvPr/>
        </p:nvSpPr>
        <p:spPr>
          <a:xfrm>
            <a:off x="4663440" y="3657600"/>
            <a:ext cx="4114800" cy="1170432"/>
          </a:xfrm>
          <a:prstGeom prst="rect">
            <a:avLst/>
          </a:prstGeom>
          <a:solidFill>
            <a:srgbClr val="1A3A7C"/>
          </a:solidFill>
          <a:ln w="1016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20" name="Text 18"/>
          <p:cNvSpPr/>
          <p:nvPr/>
        </p:nvSpPr>
        <p:spPr>
          <a:xfrm>
            <a:off x="4800600" y="3749040"/>
            <a:ext cx="3840480" cy="34747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LayoutLM-FL Monitor</a:t>
            </a:r>
            <a:endParaRPr lang="en-US" sz="1250" dirty="0"/>
          </a:p>
        </p:txBody>
      </p:sp>
      <p:sp>
        <p:nvSpPr>
          <p:cNvPr id="21" name="Text 19"/>
          <p:cNvSpPr/>
          <p:nvPr/>
        </p:nvSpPr>
        <p:spPr>
          <a:xfrm>
            <a:off x="4800600" y="4114800"/>
            <a:ext cx="3840480" cy="640080"/>
          </a:xfrm>
          <a:prstGeom prst="rect">
            <a:avLst/>
          </a:prstGeom>
          <a:noFill/>
          <a:ln/>
        </p:spPr>
        <p:txBody>
          <a:bodyPr wrap="square" lIns="0" tIns="0" rIns="0" bIns="0" rtlCol="0" anchor="t"/>
          <a:lstStyle/>
          <a:p>
            <a:pPr marL="0" indent="0">
              <a:buNone/>
            </a:pPr>
            <a:r>
              <a:rPr lang="en-US" sz="1100" dirty="0">
                <a:solidFill>
                  <a:srgbClr val="8899AA"/>
                </a:solidFill>
                <a:latin typeface="Calibri" pitchFamily="34" charset="0"/>
                <a:ea typeface="Calibri" pitchFamily="34" charset="-122"/>
                <a:cs typeface="Calibri" pitchFamily="34" charset="-120"/>
              </a:rPr>
              <a:t>Per-entity F1 curves across all federated rounds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2600" b="1" dirty="0">
                <a:solidFill>
                  <a:srgbClr val="0D1B3E"/>
                </a:solidFill>
                <a:latin typeface="Calibri" pitchFamily="34" charset="0"/>
                <a:ea typeface="Calibri" pitchFamily="34" charset="-122"/>
                <a:cs typeface="Calibri" pitchFamily="34" charset="-120"/>
              </a:rPr>
              <a:t>Challenges, Decisions &amp; Trade-offs</a:t>
            </a:r>
            <a:endParaRPr lang="en-US" sz="2600" dirty="0"/>
          </a:p>
        </p:txBody>
      </p:sp>
      <p:sp>
        <p:nvSpPr>
          <p:cNvPr id="3" name="Shape 1"/>
          <p:cNvSpPr/>
          <p:nvPr/>
        </p:nvSpPr>
        <p:spPr>
          <a:xfrm>
            <a:off x="457200" y="896112"/>
            <a:ext cx="8138160" cy="36576"/>
          </a:xfrm>
          <a:prstGeom prst="rect">
            <a:avLst/>
          </a:prstGeom>
          <a:solidFill>
            <a:srgbClr val="00C4B3"/>
          </a:solidFill>
          <a:ln w="12700">
            <a:solidFill>
              <a:srgbClr val="00C4B3"/>
            </a:solidFill>
            <a:prstDash val="solid"/>
          </a:ln>
        </p:spPr>
        <p:txBody>
          <a:bodyPr/>
          <a:lstStyle/>
          <a:p>
            <a:endParaRPr lang="en-US"/>
          </a:p>
        </p:txBody>
      </p:sp>
      <p:sp>
        <p:nvSpPr>
          <p:cNvPr id="4" name="Shape 2"/>
          <p:cNvSpPr/>
          <p:nvPr/>
        </p:nvSpPr>
        <p:spPr>
          <a:xfrm>
            <a:off x="365760" y="1051560"/>
            <a:ext cx="8412480" cy="822960"/>
          </a:xfrm>
          <a:prstGeom prst="rect">
            <a:avLst/>
          </a:prstGeom>
          <a:solidFill>
            <a:srgbClr val="FFFFFF"/>
          </a:solidFill>
          <a:ln w="12700">
            <a:solidFill>
              <a:srgbClr val="D0DF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65760" y="1051560"/>
            <a:ext cx="1005840" cy="822960"/>
          </a:xfrm>
          <a:prstGeom prst="rect">
            <a:avLst/>
          </a:prstGeom>
          <a:solidFill>
            <a:srgbClr val="E63946"/>
          </a:solidFill>
          <a:ln w="12700">
            <a:solidFill>
              <a:srgbClr val="E63946"/>
            </a:solidFill>
            <a:prstDash val="solid"/>
          </a:ln>
        </p:spPr>
        <p:txBody>
          <a:bodyPr/>
          <a:lstStyle/>
          <a:p>
            <a:endParaRPr lang="en-US"/>
          </a:p>
        </p:txBody>
      </p:sp>
      <p:sp>
        <p:nvSpPr>
          <p:cNvPr id="6" name="Text 4"/>
          <p:cNvSpPr/>
          <p:nvPr/>
        </p:nvSpPr>
        <p:spPr>
          <a:xfrm>
            <a:off x="384048" y="1252728"/>
            <a:ext cx="969264"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Phase 1</a:t>
            </a:r>
            <a:endParaRPr lang="en-US" sz="1150" dirty="0"/>
          </a:p>
        </p:txBody>
      </p:sp>
      <p:sp>
        <p:nvSpPr>
          <p:cNvPr id="7" name="Text 5"/>
          <p:cNvSpPr/>
          <p:nvPr/>
        </p:nvSpPr>
        <p:spPr>
          <a:xfrm>
            <a:off x="1463040" y="1106424"/>
            <a:ext cx="2286000" cy="320040"/>
          </a:xfrm>
          <a:prstGeom prst="rect">
            <a:avLst/>
          </a:prstGeom>
          <a:noFill/>
          <a:ln/>
        </p:spPr>
        <p:txBody>
          <a:bodyPr wrap="square" lIns="0" tIns="0" rIns="0" bIns="0" rtlCol="0" anchor="ctr"/>
          <a:lstStyle/>
          <a:p>
            <a:pPr marL="0" indent="0">
              <a:buNone/>
            </a:pPr>
            <a:r>
              <a:rPr lang="en-US" sz="1150" b="1" dirty="0">
                <a:solidFill>
                  <a:srgbClr val="E63946"/>
                </a:solidFill>
                <a:latin typeface="Calibri" pitchFamily="34" charset="0"/>
                <a:ea typeface="Calibri" pitchFamily="34" charset="-122"/>
                <a:cs typeface="Calibri" pitchFamily="34" charset="-120"/>
              </a:rPr>
              <a:t>Started with Donut</a:t>
            </a:r>
            <a:endParaRPr lang="en-US" sz="1150" dirty="0"/>
          </a:p>
        </p:txBody>
      </p:sp>
      <p:sp>
        <p:nvSpPr>
          <p:cNvPr id="8" name="Text 6"/>
          <p:cNvSpPr/>
          <p:nvPr/>
        </p:nvSpPr>
        <p:spPr>
          <a:xfrm>
            <a:off x="1463040" y="1453896"/>
            <a:ext cx="3474720" cy="347472"/>
          </a:xfrm>
          <a:prstGeom prst="rect">
            <a:avLst/>
          </a:prstGeom>
          <a:noFill/>
          <a:ln/>
        </p:spPr>
        <p:txBody>
          <a:bodyPr wrap="square" lIns="0" tIns="0" rIns="0" bIns="0" rtlCol="0" anchor="ctr"/>
          <a:lstStyle/>
          <a:p>
            <a:pPr marL="0" indent="0">
              <a:buNone/>
            </a:pPr>
            <a:r>
              <a:rPr lang="en-US" sz="1000" dirty="0">
                <a:solidFill>
                  <a:srgbClr val="1E2433"/>
                </a:solidFill>
                <a:latin typeface="Calibri" pitchFamily="34" charset="0"/>
                <a:ea typeface="Calibri" pitchFamily="34" charset="-122"/>
                <a:cs typeface="Calibri" pitchFamily="34" charset="-120"/>
              </a:rPr>
              <a:t>Problem: Slow inference, hallucinated outputs on unusual layouts</a:t>
            </a:r>
            <a:endParaRPr lang="en-US" sz="1000" dirty="0"/>
          </a:p>
        </p:txBody>
      </p:sp>
      <p:sp>
        <p:nvSpPr>
          <p:cNvPr id="9" name="Text 7"/>
          <p:cNvSpPr/>
          <p:nvPr/>
        </p:nvSpPr>
        <p:spPr>
          <a:xfrm>
            <a:off x="5074920" y="1207008"/>
            <a:ext cx="3657600" cy="512064"/>
          </a:xfrm>
          <a:prstGeom prst="rect">
            <a:avLst/>
          </a:prstGeom>
          <a:noFill/>
          <a:ln/>
        </p:spPr>
        <p:txBody>
          <a:bodyPr wrap="square" lIns="0" tIns="0" rIns="0" bIns="0" rtlCol="0" anchor="ctr"/>
          <a:lstStyle/>
          <a:p>
            <a:pPr marL="0" indent="0">
              <a:buNone/>
            </a:pPr>
            <a:r>
              <a:rPr lang="en-US" sz="1050" dirty="0">
                <a:solidFill>
                  <a:srgbClr val="2E6FD8"/>
                </a:solidFill>
                <a:latin typeface="Calibri" pitchFamily="34" charset="0"/>
                <a:ea typeface="Calibri" pitchFamily="34" charset="-122"/>
                <a:cs typeface="Calibri" pitchFamily="34" charset="-120"/>
              </a:rPr>
              <a:t>→ Switched to LayoutLMv3 — token-level NER (named entity recognition) </a:t>
            </a:r>
            <a:r>
              <a:rPr lang="en-US" sz="1050" dirty="0" err="1">
                <a:solidFill>
                  <a:srgbClr val="2E6FD8"/>
                </a:solidFill>
                <a:latin typeface="Calibri" pitchFamily="34" charset="0"/>
                <a:ea typeface="Calibri" pitchFamily="34" charset="-122"/>
                <a:cs typeface="Calibri" pitchFamily="34" charset="-120"/>
              </a:rPr>
              <a:t>localises</a:t>
            </a:r>
            <a:r>
              <a:rPr lang="en-US" sz="1050" dirty="0">
                <a:solidFill>
                  <a:srgbClr val="2E6FD8"/>
                </a:solidFill>
                <a:latin typeface="Calibri" pitchFamily="34" charset="0"/>
                <a:ea typeface="Calibri" pitchFamily="34" charset="-122"/>
                <a:cs typeface="Calibri" pitchFamily="34" charset="-120"/>
              </a:rPr>
              <a:t> errors and is interpretable</a:t>
            </a:r>
            <a:endParaRPr lang="en-US" sz="1050" dirty="0"/>
          </a:p>
        </p:txBody>
      </p:sp>
      <p:sp>
        <p:nvSpPr>
          <p:cNvPr id="10" name="Shape 8"/>
          <p:cNvSpPr/>
          <p:nvPr/>
        </p:nvSpPr>
        <p:spPr>
          <a:xfrm>
            <a:off x="365760" y="2020824"/>
            <a:ext cx="8412480" cy="822960"/>
          </a:xfrm>
          <a:prstGeom prst="rect">
            <a:avLst/>
          </a:prstGeom>
          <a:solidFill>
            <a:srgbClr val="FFFFFF"/>
          </a:solidFill>
          <a:ln w="12700">
            <a:solidFill>
              <a:srgbClr val="D0DFF0"/>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365760" y="2020824"/>
            <a:ext cx="1005840" cy="822960"/>
          </a:xfrm>
          <a:prstGeom prst="rect">
            <a:avLst/>
          </a:prstGeom>
          <a:solidFill>
            <a:srgbClr val="F4A261"/>
          </a:solidFill>
          <a:ln w="12700">
            <a:solidFill>
              <a:srgbClr val="F4A261"/>
            </a:solidFill>
            <a:prstDash val="solid"/>
          </a:ln>
        </p:spPr>
        <p:txBody>
          <a:bodyPr/>
          <a:lstStyle/>
          <a:p>
            <a:endParaRPr lang="en-US"/>
          </a:p>
        </p:txBody>
      </p:sp>
      <p:sp>
        <p:nvSpPr>
          <p:cNvPr id="12" name="Text 10"/>
          <p:cNvSpPr/>
          <p:nvPr/>
        </p:nvSpPr>
        <p:spPr>
          <a:xfrm>
            <a:off x="384048" y="2221992"/>
            <a:ext cx="969264"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Phase 3</a:t>
            </a:r>
            <a:endParaRPr lang="en-US" sz="1150" dirty="0"/>
          </a:p>
        </p:txBody>
      </p:sp>
      <p:sp>
        <p:nvSpPr>
          <p:cNvPr id="13" name="Text 11"/>
          <p:cNvSpPr/>
          <p:nvPr/>
        </p:nvSpPr>
        <p:spPr>
          <a:xfrm>
            <a:off x="1463040" y="2075688"/>
            <a:ext cx="2286000" cy="320040"/>
          </a:xfrm>
          <a:prstGeom prst="rect">
            <a:avLst/>
          </a:prstGeom>
          <a:noFill/>
          <a:ln/>
        </p:spPr>
        <p:txBody>
          <a:bodyPr wrap="square" lIns="0" tIns="0" rIns="0" bIns="0" rtlCol="0" anchor="ctr"/>
          <a:lstStyle/>
          <a:p>
            <a:pPr marL="0" indent="0">
              <a:buNone/>
            </a:pPr>
            <a:r>
              <a:rPr lang="en-US" sz="1150" b="1" dirty="0">
                <a:solidFill>
                  <a:srgbClr val="F4A261"/>
                </a:solidFill>
                <a:latin typeface="Calibri" pitchFamily="34" charset="0"/>
                <a:ea typeface="Calibri" pitchFamily="34" charset="-122"/>
                <a:cs typeface="Calibri" pitchFamily="34" charset="-120"/>
              </a:rPr>
              <a:t>Full FL fine-tuning</a:t>
            </a:r>
            <a:endParaRPr lang="en-US" sz="1150" dirty="0"/>
          </a:p>
        </p:txBody>
      </p:sp>
      <p:sp>
        <p:nvSpPr>
          <p:cNvPr id="14" name="Text 12"/>
          <p:cNvSpPr/>
          <p:nvPr/>
        </p:nvSpPr>
        <p:spPr>
          <a:xfrm>
            <a:off x="1463040" y="2423160"/>
            <a:ext cx="3474720" cy="347472"/>
          </a:xfrm>
          <a:prstGeom prst="rect">
            <a:avLst/>
          </a:prstGeom>
          <a:noFill/>
          <a:ln/>
        </p:spPr>
        <p:txBody>
          <a:bodyPr wrap="square" lIns="0" tIns="0" rIns="0" bIns="0" rtlCol="0" anchor="ctr"/>
          <a:lstStyle/>
          <a:p>
            <a:pPr marL="0" indent="0">
              <a:buNone/>
            </a:pPr>
            <a:r>
              <a:rPr lang="en-US" sz="1000" dirty="0">
                <a:solidFill>
                  <a:srgbClr val="1E2433"/>
                </a:solidFill>
                <a:latin typeface="Calibri" pitchFamily="34" charset="0"/>
                <a:ea typeface="Calibri" pitchFamily="34" charset="-122"/>
                <a:cs typeface="Calibri" pitchFamily="34" charset="-120"/>
              </a:rPr>
              <a:t>Problem: 1 round took hours on CPU; 1.2 GB per-client communication</a:t>
            </a:r>
            <a:endParaRPr lang="en-US" sz="1000" dirty="0"/>
          </a:p>
        </p:txBody>
      </p:sp>
      <p:sp>
        <p:nvSpPr>
          <p:cNvPr id="15" name="Text 13"/>
          <p:cNvSpPr/>
          <p:nvPr/>
        </p:nvSpPr>
        <p:spPr>
          <a:xfrm>
            <a:off x="5074920" y="2176272"/>
            <a:ext cx="3657600" cy="512064"/>
          </a:xfrm>
          <a:prstGeom prst="rect">
            <a:avLst/>
          </a:prstGeom>
          <a:noFill/>
          <a:ln/>
        </p:spPr>
        <p:txBody>
          <a:bodyPr wrap="square" lIns="0" tIns="0" rIns="0" bIns="0" rtlCol="0" anchor="ctr"/>
          <a:lstStyle/>
          <a:p>
            <a:pPr marL="0" indent="0">
              <a:buNone/>
            </a:pPr>
            <a:r>
              <a:rPr lang="en-US" sz="1050" dirty="0">
                <a:solidFill>
                  <a:srgbClr val="2E6FD8"/>
                </a:solidFill>
                <a:latin typeface="Calibri" pitchFamily="34" charset="0"/>
                <a:ea typeface="Calibri" pitchFamily="34" charset="-122"/>
                <a:cs typeface="Calibri" pitchFamily="34" charset="-120"/>
              </a:rPr>
              <a:t>→ Introduced LoRA → 1,066× communication reduction, CPU-feasible rounds</a:t>
            </a:r>
            <a:endParaRPr lang="en-US" sz="1050" dirty="0"/>
          </a:p>
        </p:txBody>
      </p:sp>
      <p:sp>
        <p:nvSpPr>
          <p:cNvPr id="16" name="Shape 14"/>
          <p:cNvSpPr/>
          <p:nvPr/>
        </p:nvSpPr>
        <p:spPr>
          <a:xfrm>
            <a:off x="365760" y="2990088"/>
            <a:ext cx="8412480" cy="822960"/>
          </a:xfrm>
          <a:prstGeom prst="rect">
            <a:avLst/>
          </a:prstGeom>
          <a:solidFill>
            <a:srgbClr val="FFFFFF"/>
          </a:solidFill>
          <a:ln w="12700">
            <a:solidFill>
              <a:srgbClr val="D0DF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365760" y="2990088"/>
            <a:ext cx="1005840" cy="822960"/>
          </a:xfrm>
          <a:prstGeom prst="rect">
            <a:avLst/>
          </a:prstGeom>
          <a:solidFill>
            <a:srgbClr val="2E6FD8"/>
          </a:solidFill>
          <a:ln w="12700">
            <a:solidFill>
              <a:srgbClr val="2E6FD8"/>
            </a:solidFill>
            <a:prstDash val="solid"/>
          </a:ln>
        </p:spPr>
        <p:txBody>
          <a:bodyPr/>
          <a:lstStyle/>
          <a:p>
            <a:endParaRPr lang="en-US"/>
          </a:p>
        </p:txBody>
      </p:sp>
      <p:sp>
        <p:nvSpPr>
          <p:cNvPr id="18" name="Text 16"/>
          <p:cNvSpPr/>
          <p:nvPr/>
        </p:nvSpPr>
        <p:spPr>
          <a:xfrm>
            <a:off x="384048" y="3191256"/>
            <a:ext cx="969264"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Phase 5</a:t>
            </a:r>
            <a:endParaRPr lang="en-US" sz="1150" dirty="0"/>
          </a:p>
        </p:txBody>
      </p:sp>
      <p:sp>
        <p:nvSpPr>
          <p:cNvPr id="19" name="Text 17"/>
          <p:cNvSpPr/>
          <p:nvPr/>
        </p:nvSpPr>
        <p:spPr>
          <a:xfrm>
            <a:off x="1463040" y="3044952"/>
            <a:ext cx="2286000" cy="320040"/>
          </a:xfrm>
          <a:prstGeom prst="rect">
            <a:avLst/>
          </a:prstGeom>
          <a:noFill/>
          <a:ln/>
        </p:spPr>
        <p:txBody>
          <a:bodyPr wrap="square" lIns="0" tIns="0" rIns="0" bIns="0" rtlCol="0" anchor="ctr"/>
          <a:lstStyle/>
          <a:p>
            <a:pPr marL="0" indent="0">
              <a:buNone/>
            </a:pPr>
            <a:r>
              <a:rPr lang="en-US" sz="1150" b="1" dirty="0">
                <a:solidFill>
                  <a:srgbClr val="2E6FD8"/>
                </a:solidFill>
                <a:latin typeface="Calibri" pitchFamily="34" charset="0"/>
                <a:ea typeface="Calibri" pitchFamily="34" charset="-122"/>
                <a:cs typeface="Calibri" pitchFamily="34" charset="-120"/>
              </a:rPr>
              <a:t>Single-model extraction</a:t>
            </a:r>
            <a:endParaRPr lang="en-US" sz="1150" dirty="0"/>
          </a:p>
        </p:txBody>
      </p:sp>
      <p:sp>
        <p:nvSpPr>
          <p:cNvPr id="20" name="Text 18"/>
          <p:cNvSpPr/>
          <p:nvPr/>
        </p:nvSpPr>
        <p:spPr>
          <a:xfrm>
            <a:off x="1463040" y="3392424"/>
            <a:ext cx="3474720" cy="347472"/>
          </a:xfrm>
          <a:prstGeom prst="rect">
            <a:avLst/>
          </a:prstGeom>
          <a:noFill/>
          <a:ln/>
        </p:spPr>
        <p:txBody>
          <a:bodyPr wrap="square" lIns="0" tIns="0" rIns="0" bIns="0" rtlCol="0" anchor="ctr"/>
          <a:lstStyle/>
          <a:p>
            <a:pPr marL="0" indent="0">
              <a:buNone/>
            </a:pPr>
            <a:r>
              <a:rPr lang="en-US" sz="1000" dirty="0">
                <a:solidFill>
                  <a:srgbClr val="1E2433"/>
                </a:solidFill>
                <a:latin typeface="Calibri" pitchFamily="34" charset="0"/>
                <a:ea typeface="Calibri" pitchFamily="34" charset="-122"/>
                <a:cs typeface="Calibri" pitchFamily="34" charset="-120"/>
              </a:rPr>
              <a:t>Problem: LayoutLMv3 failed on low-res scans, unseen languages, unusual layouts</a:t>
            </a:r>
            <a:endParaRPr lang="en-US" sz="1000" dirty="0"/>
          </a:p>
        </p:txBody>
      </p:sp>
      <p:sp>
        <p:nvSpPr>
          <p:cNvPr id="21" name="Text 19"/>
          <p:cNvSpPr/>
          <p:nvPr/>
        </p:nvSpPr>
        <p:spPr>
          <a:xfrm>
            <a:off x="5074920" y="3145536"/>
            <a:ext cx="3657600" cy="512064"/>
          </a:xfrm>
          <a:prstGeom prst="rect">
            <a:avLst/>
          </a:prstGeom>
          <a:noFill/>
          <a:ln/>
        </p:spPr>
        <p:txBody>
          <a:bodyPr wrap="square" lIns="0" tIns="0" rIns="0" bIns="0" rtlCol="0" anchor="ctr"/>
          <a:lstStyle/>
          <a:p>
            <a:pPr marL="0" indent="0">
              <a:buNone/>
            </a:pPr>
            <a:r>
              <a:rPr lang="en-US" sz="1050" dirty="0">
                <a:solidFill>
                  <a:srgbClr val="2E6FD8"/>
                </a:solidFill>
                <a:latin typeface="Calibri" pitchFamily="34" charset="0"/>
                <a:ea typeface="Calibri" pitchFamily="34" charset="-122"/>
                <a:cs typeface="Calibri" pitchFamily="34" charset="-120"/>
              </a:rPr>
              <a:t>→ Built 4-tier fallback cascade — reliability over optimal accuracy</a:t>
            </a:r>
            <a:endParaRPr lang="en-US" sz="1050" dirty="0"/>
          </a:p>
        </p:txBody>
      </p:sp>
      <p:sp>
        <p:nvSpPr>
          <p:cNvPr id="22" name="Shape 20"/>
          <p:cNvSpPr/>
          <p:nvPr/>
        </p:nvSpPr>
        <p:spPr>
          <a:xfrm>
            <a:off x="365760" y="3959352"/>
            <a:ext cx="8412480" cy="822960"/>
          </a:xfrm>
          <a:prstGeom prst="rect">
            <a:avLst/>
          </a:prstGeom>
          <a:solidFill>
            <a:srgbClr val="FFFFFF"/>
          </a:solidFill>
          <a:ln w="12700">
            <a:solidFill>
              <a:srgbClr val="D0DFF0"/>
            </a:solidFill>
            <a:prstDash val="solid"/>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365760" y="3959352"/>
            <a:ext cx="1005840" cy="822960"/>
          </a:xfrm>
          <a:prstGeom prst="rect">
            <a:avLst/>
          </a:prstGeom>
          <a:solidFill>
            <a:srgbClr val="00C4B3"/>
          </a:solidFill>
          <a:ln w="12700">
            <a:solidFill>
              <a:srgbClr val="00C4B3"/>
            </a:solidFill>
            <a:prstDash val="solid"/>
          </a:ln>
        </p:spPr>
        <p:txBody>
          <a:bodyPr/>
          <a:lstStyle/>
          <a:p>
            <a:endParaRPr lang="en-US"/>
          </a:p>
        </p:txBody>
      </p:sp>
      <p:sp>
        <p:nvSpPr>
          <p:cNvPr id="24" name="Text 22"/>
          <p:cNvSpPr/>
          <p:nvPr/>
        </p:nvSpPr>
        <p:spPr>
          <a:xfrm>
            <a:off x="384048" y="4160520"/>
            <a:ext cx="969264"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Privacy</a:t>
            </a:r>
            <a:endParaRPr lang="en-US" sz="1150" dirty="0"/>
          </a:p>
        </p:txBody>
      </p:sp>
      <p:sp>
        <p:nvSpPr>
          <p:cNvPr id="25" name="Text 23"/>
          <p:cNvSpPr/>
          <p:nvPr/>
        </p:nvSpPr>
        <p:spPr>
          <a:xfrm>
            <a:off x="1463040" y="4014216"/>
            <a:ext cx="2286000" cy="320040"/>
          </a:xfrm>
          <a:prstGeom prst="rect">
            <a:avLst/>
          </a:prstGeom>
          <a:noFill/>
          <a:ln/>
        </p:spPr>
        <p:txBody>
          <a:bodyPr wrap="square" lIns="0" tIns="0" rIns="0" bIns="0" rtlCol="0" anchor="ctr"/>
          <a:lstStyle/>
          <a:p>
            <a:pPr marL="0" indent="0">
              <a:buNone/>
            </a:pPr>
            <a:r>
              <a:rPr lang="en-US" sz="1150" b="1" dirty="0">
                <a:solidFill>
                  <a:srgbClr val="00C4B3"/>
                </a:solidFill>
                <a:latin typeface="Calibri" pitchFamily="34" charset="0"/>
                <a:ea typeface="Calibri" pitchFamily="34" charset="-122"/>
                <a:cs typeface="Calibri" pitchFamily="34" charset="-120"/>
              </a:rPr>
              <a:t>DP configuration</a:t>
            </a:r>
            <a:endParaRPr lang="en-US" sz="1150" dirty="0"/>
          </a:p>
        </p:txBody>
      </p:sp>
      <p:sp>
        <p:nvSpPr>
          <p:cNvPr id="26" name="Text 24"/>
          <p:cNvSpPr/>
          <p:nvPr/>
        </p:nvSpPr>
        <p:spPr>
          <a:xfrm>
            <a:off x="1463040" y="4361688"/>
            <a:ext cx="3474720" cy="347472"/>
          </a:xfrm>
          <a:prstGeom prst="rect">
            <a:avLst/>
          </a:prstGeom>
          <a:noFill/>
          <a:ln/>
        </p:spPr>
        <p:txBody>
          <a:bodyPr wrap="square" lIns="0" tIns="0" rIns="0" bIns="0" rtlCol="0" anchor="ctr"/>
          <a:lstStyle/>
          <a:p>
            <a:pPr marL="0" indent="0">
              <a:buNone/>
            </a:pPr>
            <a:r>
              <a:rPr lang="en-US" sz="1000" dirty="0">
                <a:solidFill>
                  <a:srgbClr val="1E2433"/>
                </a:solidFill>
                <a:latin typeface="Calibri" pitchFamily="34" charset="0"/>
                <a:ea typeface="Calibri" pitchFamily="34" charset="-122"/>
                <a:cs typeface="Calibri" pitchFamily="34" charset="-120"/>
              </a:rPr>
              <a:t>Problem: σ = 0.5 gave ε ≈ 8.74/round — too loose for strict privacy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Future Scope</a:t>
            </a:r>
            <a:endParaRPr lang="en-US" sz="2600" dirty="0"/>
          </a:p>
        </p:txBody>
      </p:sp>
      <p:sp>
        <p:nvSpPr>
          <p:cNvPr id="3" name="Shape 1"/>
          <p:cNvSpPr/>
          <p:nvPr/>
        </p:nvSpPr>
        <p:spPr>
          <a:xfrm>
            <a:off x="457200" y="896112"/>
            <a:ext cx="8138160" cy="36576"/>
          </a:xfrm>
          <a:prstGeom prst="rect">
            <a:avLst/>
          </a:prstGeom>
          <a:solidFill>
            <a:srgbClr val="00C4B3"/>
          </a:solidFill>
          <a:ln w="12700">
            <a:solidFill>
              <a:srgbClr val="00C4B3"/>
            </a:solidFill>
            <a:prstDash val="solid"/>
          </a:ln>
        </p:spPr>
        <p:txBody>
          <a:bodyPr/>
          <a:lstStyle/>
          <a:p>
            <a:endParaRPr lang="en-US"/>
          </a:p>
        </p:txBody>
      </p:sp>
      <p:sp>
        <p:nvSpPr>
          <p:cNvPr id="4" name="Shape 2"/>
          <p:cNvSpPr/>
          <p:nvPr/>
        </p:nvSpPr>
        <p:spPr>
          <a:xfrm>
            <a:off x="365760" y="1005840"/>
            <a:ext cx="4114800" cy="1737360"/>
          </a:xfrm>
          <a:prstGeom prst="rect">
            <a:avLst/>
          </a:prstGeom>
          <a:solidFill>
            <a:srgbClr val="1A3A7C"/>
          </a:solidFill>
          <a:ln w="19050">
            <a:solidFill>
              <a:srgbClr val="00C4B3"/>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65760" y="1005840"/>
            <a:ext cx="4114800" cy="384048"/>
          </a:xfrm>
          <a:prstGeom prst="rect">
            <a:avLst/>
          </a:prstGeom>
          <a:solidFill>
            <a:srgbClr val="00C4B3"/>
          </a:solidFill>
          <a:ln w="12700">
            <a:solidFill>
              <a:srgbClr val="00C4B3"/>
            </a:solidFill>
            <a:prstDash val="solid"/>
          </a:ln>
        </p:spPr>
        <p:txBody>
          <a:bodyPr/>
          <a:lstStyle/>
          <a:p>
            <a:endParaRPr lang="en-US"/>
          </a:p>
        </p:txBody>
      </p:sp>
      <p:sp>
        <p:nvSpPr>
          <p:cNvPr id="6" name="Text 4"/>
          <p:cNvSpPr/>
          <p:nvPr/>
        </p:nvSpPr>
        <p:spPr>
          <a:xfrm>
            <a:off x="475488" y="1060704"/>
            <a:ext cx="3895344"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Tighter Differential Privacy</a:t>
            </a:r>
            <a:endParaRPr lang="en-US" sz="1250" dirty="0"/>
          </a:p>
        </p:txBody>
      </p:sp>
      <p:sp>
        <p:nvSpPr>
          <p:cNvPr id="7" name="Text 5"/>
          <p:cNvSpPr/>
          <p:nvPr/>
        </p:nvSpPr>
        <p:spPr>
          <a:xfrm>
            <a:off x="475488" y="1463040"/>
            <a:ext cx="3895344" cy="1207008"/>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Current ε ≈ 8.74/round. Target ε &lt; 5 across all rounds combined via subsampling amplification and σ tuning. Infrastructure already in place.</a:t>
            </a:r>
            <a:endParaRPr lang="en-US" sz="1100" dirty="0"/>
          </a:p>
        </p:txBody>
      </p:sp>
      <p:sp>
        <p:nvSpPr>
          <p:cNvPr id="8" name="Shape 6"/>
          <p:cNvSpPr/>
          <p:nvPr/>
        </p:nvSpPr>
        <p:spPr>
          <a:xfrm>
            <a:off x="4663440" y="1005840"/>
            <a:ext cx="4114800" cy="1737360"/>
          </a:xfrm>
          <a:prstGeom prst="rect">
            <a:avLst/>
          </a:prstGeom>
          <a:solidFill>
            <a:srgbClr val="1A3A7C"/>
          </a:solidFill>
          <a:ln w="19050">
            <a:solidFill>
              <a:srgbClr val="2E6FD8"/>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663440" y="1005840"/>
            <a:ext cx="4114800" cy="384048"/>
          </a:xfrm>
          <a:prstGeom prst="rect">
            <a:avLst/>
          </a:prstGeom>
          <a:solidFill>
            <a:srgbClr val="2E6FD8"/>
          </a:solidFill>
          <a:ln w="12700">
            <a:solidFill>
              <a:srgbClr val="2E6FD8"/>
            </a:solidFill>
            <a:prstDash val="solid"/>
          </a:ln>
        </p:spPr>
        <p:txBody>
          <a:bodyPr/>
          <a:lstStyle/>
          <a:p>
            <a:endParaRPr lang="en-US"/>
          </a:p>
        </p:txBody>
      </p:sp>
      <p:sp>
        <p:nvSpPr>
          <p:cNvPr id="10" name="Text 8"/>
          <p:cNvSpPr/>
          <p:nvPr/>
        </p:nvSpPr>
        <p:spPr>
          <a:xfrm>
            <a:off x="4773168" y="1060704"/>
            <a:ext cx="3895344"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Scaling the Federated Network</a:t>
            </a:r>
            <a:endParaRPr lang="en-US" sz="1250" dirty="0"/>
          </a:p>
        </p:txBody>
      </p:sp>
      <p:sp>
        <p:nvSpPr>
          <p:cNvPr id="11" name="Text 9"/>
          <p:cNvSpPr/>
          <p:nvPr/>
        </p:nvSpPr>
        <p:spPr>
          <a:xfrm>
            <a:off x="4773168" y="1463040"/>
            <a:ext cx="3895344" cy="1207008"/>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From 3 simulated clients → hundreds of real organizations. Requires asynchronous aggregation, client selection strategies, and quantized/sparse updates.</a:t>
            </a:r>
            <a:endParaRPr lang="en-US" sz="1100" dirty="0"/>
          </a:p>
        </p:txBody>
      </p:sp>
      <p:sp>
        <p:nvSpPr>
          <p:cNvPr id="12" name="Shape 10"/>
          <p:cNvSpPr/>
          <p:nvPr/>
        </p:nvSpPr>
        <p:spPr>
          <a:xfrm>
            <a:off x="365760" y="2926080"/>
            <a:ext cx="4114800" cy="1737360"/>
          </a:xfrm>
          <a:prstGeom prst="rect">
            <a:avLst/>
          </a:prstGeom>
          <a:solidFill>
            <a:srgbClr val="1A3A7C"/>
          </a:solidFill>
          <a:ln w="19050">
            <a:solidFill>
              <a:srgbClr val="1A3A7C"/>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365760" y="2926080"/>
            <a:ext cx="4114800" cy="384048"/>
          </a:xfrm>
          <a:prstGeom prst="rect">
            <a:avLst/>
          </a:prstGeom>
          <a:solidFill>
            <a:srgbClr val="1A3A7C"/>
          </a:solidFill>
          <a:ln w="12700">
            <a:solidFill>
              <a:srgbClr val="1A3A7C"/>
            </a:solidFill>
            <a:prstDash val="solid"/>
          </a:ln>
        </p:spPr>
        <p:txBody>
          <a:bodyPr/>
          <a:lstStyle/>
          <a:p>
            <a:endParaRPr lang="en-US"/>
          </a:p>
        </p:txBody>
      </p:sp>
      <p:sp>
        <p:nvSpPr>
          <p:cNvPr id="14" name="Text 12"/>
          <p:cNvSpPr/>
          <p:nvPr/>
        </p:nvSpPr>
        <p:spPr>
          <a:xfrm>
            <a:off x="475488" y="2980944"/>
            <a:ext cx="3895344"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Real-Time Streaming Pipeline</a:t>
            </a:r>
            <a:endParaRPr lang="en-US" sz="1250" dirty="0"/>
          </a:p>
        </p:txBody>
      </p:sp>
      <p:sp>
        <p:nvSpPr>
          <p:cNvPr id="15" name="Text 13"/>
          <p:cNvSpPr/>
          <p:nvPr/>
        </p:nvSpPr>
        <p:spPr>
          <a:xfrm>
            <a:off x="475488" y="3383280"/>
            <a:ext cx="3895344" cy="1207008"/>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Process invoices as they arrive from email, shared folders, or ERP webhooks. Continuous background FL training on validated invoice accumulations.</a:t>
            </a:r>
            <a:endParaRPr lang="en-US" sz="1100" dirty="0"/>
          </a:p>
        </p:txBody>
      </p:sp>
      <p:sp>
        <p:nvSpPr>
          <p:cNvPr id="16" name="Shape 14"/>
          <p:cNvSpPr/>
          <p:nvPr/>
        </p:nvSpPr>
        <p:spPr>
          <a:xfrm>
            <a:off x="4663440" y="2926080"/>
            <a:ext cx="4114800" cy="1737360"/>
          </a:xfrm>
          <a:prstGeom prst="rect">
            <a:avLst/>
          </a:prstGeom>
          <a:solidFill>
            <a:srgbClr val="1A3A7C"/>
          </a:solidFill>
          <a:ln w="19050">
            <a:solidFill>
              <a:srgbClr val="F4A261"/>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663440" y="2926080"/>
            <a:ext cx="4114800" cy="384048"/>
          </a:xfrm>
          <a:prstGeom prst="rect">
            <a:avLst/>
          </a:prstGeom>
          <a:solidFill>
            <a:srgbClr val="F4A261"/>
          </a:solidFill>
          <a:ln w="12700">
            <a:solidFill>
              <a:srgbClr val="F4A261"/>
            </a:solidFill>
            <a:prstDash val="solid"/>
          </a:ln>
        </p:spPr>
        <p:txBody>
          <a:bodyPr/>
          <a:lstStyle/>
          <a:p>
            <a:endParaRPr lang="en-US"/>
          </a:p>
        </p:txBody>
      </p:sp>
      <p:sp>
        <p:nvSpPr>
          <p:cNvPr id="18" name="Text 16"/>
          <p:cNvSpPr/>
          <p:nvPr/>
        </p:nvSpPr>
        <p:spPr>
          <a:xfrm>
            <a:off x="4773168" y="2980944"/>
            <a:ext cx="3895344"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Multilingual &amp; Cross-Format Expansion</a:t>
            </a:r>
            <a:endParaRPr lang="en-US" sz="1250" dirty="0"/>
          </a:p>
        </p:txBody>
      </p:sp>
      <p:sp>
        <p:nvSpPr>
          <p:cNvPr id="19" name="Text 17"/>
          <p:cNvSpPr/>
          <p:nvPr/>
        </p:nvSpPr>
        <p:spPr>
          <a:xfrm>
            <a:off x="4773168" y="3383280"/>
            <a:ext cx="3895344" cy="1207008"/>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Current training spans French + English. Extend to Arabic, Urdu, and Asian scripts. Add structured spreadsheet-native invoice understanding.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C4B3"/>
          </a:solidFill>
          <a:ln w="12700">
            <a:solidFill>
              <a:srgbClr val="00C4B3"/>
            </a:solidFill>
            <a:prstDash val="solid"/>
          </a:ln>
        </p:spPr>
        <p:txBody>
          <a:bodyPr/>
          <a:lstStyle/>
          <a:p>
            <a:endParaRPr lang="en-US"/>
          </a:p>
        </p:txBody>
      </p:sp>
      <p:sp>
        <p:nvSpPr>
          <p:cNvPr id="3" name="Shape 1"/>
          <p:cNvSpPr/>
          <p:nvPr/>
        </p:nvSpPr>
        <p:spPr>
          <a:xfrm>
            <a:off x="7498080" y="0"/>
            <a:ext cx="1645920" cy="5143500"/>
          </a:xfrm>
          <a:prstGeom prst="rect">
            <a:avLst/>
          </a:prstGeom>
          <a:solidFill>
            <a:srgbClr val="1A3A7C"/>
          </a:solidFill>
          <a:ln w="12700">
            <a:solidFill>
              <a:srgbClr val="1A3A7C"/>
            </a:solidFill>
            <a:prstDash val="solid"/>
          </a:ln>
        </p:spPr>
        <p:txBody>
          <a:bodyPr/>
          <a:lstStyle/>
          <a:p>
            <a:endParaRPr lang="en-US"/>
          </a:p>
        </p:txBody>
      </p:sp>
      <p:sp>
        <p:nvSpPr>
          <p:cNvPr id="4" name="Text 2"/>
          <p:cNvSpPr/>
          <p:nvPr/>
        </p:nvSpPr>
        <p:spPr>
          <a:xfrm>
            <a:off x="502920" y="640080"/>
            <a:ext cx="6858000" cy="914400"/>
          </a:xfrm>
          <a:prstGeom prst="rect">
            <a:avLst/>
          </a:prstGeom>
          <a:noFill/>
          <a:ln/>
        </p:spPr>
        <p:txBody>
          <a:bodyPr wrap="square"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5" name="Text 3"/>
          <p:cNvSpPr/>
          <p:nvPr/>
        </p:nvSpPr>
        <p:spPr>
          <a:xfrm>
            <a:off x="502920" y="1554480"/>
            <a:ext cx="6766560" cy="457200"/>
          </a:xfrm>
          <a:prstGeom prst="rect">
            <a:avLst/>
          </a:prstGeom>
          <a:noFill/>
          <a:ln/>
        </p:spPr>
        <p:txBody>
          <a:bodyPr wrap="square" rtlCol="0" anchor="ctr"/>
          <a:lstStyle/>
          <a:p>
            <a:pPr marL="0" indent="0" algn="l">
              <a:buNone/>
            </a:pPr>
            <a:r>
              <a:rPr lang="en-US" sz="1600" dirty="0">
                <a:solidFill>
                  <a:srgbClr val="00C4B3"/>
                </a:solidFill>
                <a:latin typeface="Calibri" pitchFamily="34" charset="0"/>
                <a:ea typeface="Calibri" pitchFamily="34" charset="-122"/>
                <a:cs typeface="Calibri" pitchFamily="34" charset="-120"/>
              </a:rPr>
              <a:t>AI-Based Cost Management System</a:t>
            </a:r>
            <a:endParaRPr lang="en-US" sz="1600" dirty="0"/>
          </a:p>
        </p:txBody>
      </p:sp>
      <p:sp>
        <p:nvSpPr>
          <p:cNvPr id="6" name="Shape 4"/>
          <p:cNvSpPr/>
          <p:nvPr/>
        </p:nvSpPr>
        <p:spPr>
          <a:xfrm>
            <a:off x="502920" y="2121408"/>
            <a:ext cx="5486400" cy="0"/>
          </a:xfrm>
          <a:prstGeom prst="line">
            <a:avLst/>
          </a:prstGeom>
          <a:noFill/>
          <a:ln w="12700">
            <a:solidFill>
              <a:srgbClr val="2E6FD8"/>
            </a:solidFill>
            <a:prstDash val="solid"/>
          </a:ln>
        </p:spPr>
        <p:txBody>
          <a:bodyPr/>
          <a:lstStyle/>
          <a:p>
            <a:endParaRPr lang="en-US"/>
          </a:p>
        </p:txBody>
      </p:sp>
      <p:sp>
        <p:nvSpPr>
          <p:cNvPr id="15" name="Text 13"/>
          <p:cNvSpPr/>
          <p:nvPr/>
        </p:nvSpPr>
        <p:spPr>
          <a:xfrm>
            <a:off x="502920" y="3566160"/>
            <a:ext cx="6766560" cy="731520"/>
          </a:xfrm>
          <a:prstGeom prst="rect">
            <a:avLst/>
          </a:prstGeom>
          <a:noFill/>
          <a:ln/>
        </p:spPr>
        <p:txBody>
          <a:bodyPr wrap="square" rtlCol="0" anchor="ctr"/>
          <a:lstStyle/>
          <a:p>
            <a:pPr marL="0" indent="0" algn="l">
              <a:buNone/>
            </a:pPr>
            <a:r>
              <a:rPr lang="en-US" sz="1100" dirty="0">
                <a:solidFill>
                  <a:srgbClr val="8899AA"/>
                </a:solidFill>
                <a:latin typeface="Calibri" pitchFamily="34" charset="0"/>
                <a:ea typeface="Calibri" pitchFamily="34" charset="-122"/>
                <a:cs typeface="Calibri" pitchFamily="34" charset="-120"/>
              </a:rPr>
              <a:t>Huzaifa Ahmed Khan (26485)  ·  Ali Saeed (27153)  ·  Muhammad Bilal Adnan (27151)</a:t>
            </a:r>
            <a:endParaRPr lang="en-US" sz="1100" dirty="0"/>
          </a:p>
          <a:p>
            <a:pPr marL="0" indent="0" algn="l">
              <a:buNone/>
            </a:pPr>
            <a:r>
              <a:rPr lang="en-US" sz="1100" dirty="0">
                <a:solidFill>
                  <a:srgbClr val="8899AA"/>
                </a:solidFill>
                <a:latin typeface="Calibri" pitchFamily="34" charset="0"/>
                <a:ea typeface="Calibri" pitchFamily="34" charset="-122"/>
                <a:cs typeface="Calibri" pitchFamily="34" charset="-120"/>
              </a:rPr>
              <a:t>Supervisor: Dr. S.M. Faisal Iradat  ·  Institute of Business Administration, Karachi</a:t>
            </a:r>
            <a:endParaRPr lang="en-US" sz="1100" dirty="0"/>
          </a:p>
        </p:txBody>
      </p:sp>
      <p:sp>
        <p:nvSpPr>
          <p:cNvPr id="16" name="Text 14"/>
          <p:cNvSpPr/>
          <p:nvPr/>
        </p:nvSpPr>
        <p:spPr>
          <a:xfrm>
            <a:off x="502920" y="4343400"/>
            <a:ext cx="6766560" cy="457200"/>
          </a:xfrm>
          <a:prstGeom prst="rect">
            <a:avLst/>
          </a:prstGeom>
          <a:noFill/>
          <a:ln/>
        </p:spPr>
        <p:txBody>
          <a:bodyPr wrap="square" rtlCol="0" anchor="ctr"/>
          <a:lstStyle/>
          <a:p>
            <a:pPr marL="0" indent="0">
              <a:buNone/>
            </a:pPr>
            <a:r>
              <a:rPr lang="en-US" sz="1400" i="1" dirty="0">
                <a:solidFill>
                  <a:srgbClr val="00C4B3"/>
                </a:solidFill>
                <a:latin typeface="Calibri" pitchFamily="34" charset="0"/>
                <a:ea typeface="Calibri" pitchFamily="34" charset="-122"/>
                <a:cs typeface="Calibri" pitchFamily="34" charset="-120"/>
              </a:rPr>
              <a:t>Open for 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8B3DF7F-D5EA-4D46-8BF7-01E594458707}">
  <we:reference id="wa200010001" version="1.0.0.1" store="en-US" storeType="OMEX"/>
  <we:alternateReferences>
    <we:reference id="wa200010001" version="1.0.0.1" store="wa200010001" storeType="OMEX"/>
  </we:alternateReferences>
  <we:properties>
    <we:property name="claude.fileId" value="&quot;a51a3547-01d4-49fb-b08b-d95f1433377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612</TotalTime>
  <Words>1673</Words>
  <Application>Microsoft Office PowerPoint</Application>
  <PresentationFormat>On-screen Show (16:9)</PresentationFormat>
  <Paragraphs>223</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Cost Management System</dc:title>
  <dc:subject>PptxGenJS Presentation</dc:subject>
  <dc:creator>PptxGenJS</dc:creator>
  <cp:lastModifiedBy>Saeed Babar</cp:lastModifiedBy>
  <cp:revision>9</cp:revision>
  <dcterms:created xsi:type="dcterms:W3CDTF">2026-04-24T19:28:28Z</dcterms:created>
  <dcterms:modified xsi:type="dcterms:W3CDTF">2026-04-25T07:13:35Z</dcterms:modified>
</cp:coreProperties>
</file>